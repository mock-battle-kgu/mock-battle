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fbbc307-8e59-6572-5fc3-f459557a3c2b}">
          <p14:sldIdLst>
            <p14:sldId id="256"/>
            <p14:sldId id="257"/>
          </p14:sldIdLst>
        </p14:section>
        <p14:section name="핵심 기능" id="{0d01d765-c3d8-5568-8e20-46bb39b9048b}">
          <p14:sldIdLst>
            <p14:sldId id="258"/>
            <p14:sldId id="259"/>
            <p14:sldId id="260"/>
          </p14:sldIdLst>
        </p14:section>
        <p14:section name="구현 계획" id="{14cb557d-af9d-7a64-15c6-0e7166437ef2}">
          <p14:sldIdLst>
            <p14:sldId id="261"/>
          </p14:sldIdLst>
        </p14:section>
        <p14:section name="마무리" id="{4571038f-90ad-699a-08ab-dfc7da4a035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 팀의 주제는 '모의투자 배틀'입니다. 한마디로 차트가 아니라 사람과 싸우는 10분짜리 실시간 투자 대결 게임입니다.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모의투자는 몇 달씩 혼자 하는 방식이고, 과거 차트를 가리고 매매하는 블라인드 차트 게임도 이미 있지만 결국 혼자 차트와 싸우는 구조입니다. 저희는 참가자끼리 서로 영향을 주는 '사람 대 사람' 구조로 차별화했습니다. 블라인드 방식은 혼자 연습하는 연습 모드로 넣을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기능은 최대 8명이 참여하는 실시간 방 대결입니다. 방장이 방을 만들면 6자리 PIN이 생기고, 참가자들은 PIN만 입력하면 같은 방에 들어옵니다. 서버가 1초마다 만든 시세를 모든 참가자에게 동시에 보내기 때문에 누구도 먼저 보거나 늦게 보지 않고, 매매할 때마다 수익률 순위가 실시간으로 바뀝니다.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루머 카드입니다. 게임을 시작하면 한 사람당 루머 카드 2장을 받고, 카드를 쓰면 다른 참가자 화면에 속보 형태의 뉴스가 뜹니다. 시스템이 내보내는 진짜 뉴스와 모양이 똑같아서 구별이 안 되고, 게임이 끝나면 어떤 뉴스가 루머였고 누가 퍼뜨렸는지 공개됩니다. 기존 모의투자에는 없는 심리전 요소입니다.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플레이어가 움직이는 시장입니다. 기존 모의투자 게임은 가격이 정해져 있지만, 저희는 참가자 8명의 주문을 서버로 모아 최근 10초 동안의 순매수량을 계산하고, 그만큼 가격을 보정합니다. 그래서 친구와 담합해 가격을 올리거나, 루머와 매수를 섞어 작전을 하거나, 같이 사자고 해 놓고 먼저 파는 배신도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Docker Compose로 6개 컨테이너를 구성합니다. 시세 엔진이 만든 가격은 RabbitMQ를 거쳐 게임 서버로 가고, 게임 서버가 Socket.IO로 모든 참가자에게 동시에 보냅니다. 게임 결과는 API 서버를 통해 볼륨을 쓰는 DB에 저장합니다. 외부 오픈소스로 Socket.IO, RabbitMQ, Lightweight Charts, k6를 활용할 계획이고, Git Flow와 PR 리뷰, GitHub Actions로 개발을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발표 때는 여러분이 휴대폰으로 직접 접속해 한 판 플레이해 보실 수 있게 준비하겠습니다.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783080"/>
            <a:ext cx="8046720" cy="365760"/>
          </a:xfrm>
          <a:prstGeom prst="rect">
            <a:avLst/>
          </a:prstGeom>
          <a:noFill/>
          <a:ln/>
        </p:spPr>
        <p:txBody>
          <a:bodyPr wrap="square" rtlCol="0"/>
          <a:lstStyle>
            <a:lvl1pPr algn="ctr" indent="0" marL="0">
              <a:buNone/>
              <a:defRPr lang="en-US" sz="1400" b="1" dirty="0">
                <a:solidFill>
                  <a:schemeClr val="accent3"/>
                </a:solidFill>
              </a:defRPr>
            </a:lvl1pPr>
          </a:lstStyle>
          <a:p>
            <a:pPr algn="ctr" indent="0" marL="0">
              <a:buNone/>
            </a:pPr>
            <a:endParaRPr lang="en-US" sz="1400" dirty="0"/>
          </a:p>
        </p:txBody>
      </p:sp>
      <p:sp>
        <p:nvSpPr>
          <p:cNvPr id="3" name="Text 0"/>
          <p:cNvSpPr/>
          <p:nvPr>
            <p:ph idx="101" type="title" hasCustomPrompt="1"/>
          </p:nvPr>
        </p:nvSpPr>
        <p:spPr>
          <a:xfrm>
            <a:off x="548640" y="2194560"/>
            <a:ext cx="8046720" cy="914400"/>
          </a:xfrm>
          <a:prstGeom prst="rect">
            <a:avLst/>
          </a:prstGeom>
          <a:noFill/>
          <a:ln/>
        </p:spPr>
        <p:txBody>
          <a:bodyPr wrap="square" rtlCol="0"/>
          <a:lstStyle>
            <a:lvl1pPr algn="ctr" indent="0" marL="0">
              <a:buNone/>
              <a:defRPr lang="en-US" sz="4800" b="1" dirty="0">
                <a:solidFill>
                  <a:schemeClr val="bg1"/>
                </a:solidFill>
              </a:defRPr>
            </a:lvl1pPr>
          </a:lstStyle>
          <a:p>
            <a:pPr algn="ctr"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12264"/>
            <a:ext cx="8046720" cy="914400"/>
          </a:xfrm>
          <a:prstGeom prst="rect">
            <a:avLst/>
          </a:prstGeom>
          <a:noFill/>
          <a:ln/>
        </p:spPr>
        <p:txBody>
          <a:bodyPr wrap="square" rtlCol="0"/>
          <a:lstStyle>
            <a:lvl1pPr algn="ctr" indent="0" marL="0">
              <a:buNone/>
              <a:defRPr lang="en-US" sz="4800" b="1" dirty="0">
                <a:solidFill>
                  <a:schemeClr val="bg1"/>
                </a:solidFill>
              </a:defRPr>
            </a:lvl1pPr>
          </a:lstStyle>
          <a:p>
            <a:pPr algn="ctr"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783080"/>
            <a:ext cx="8046720" cy="365760"/>
          </a:xfrm>
          <a:prstGeom prst="rect">
            <a:avLst/>
          </a:prstGeom>
          <a:noFill/>
          <a:ln/>
        </p:spPr>
        <p:txBody>
          <a:bodyPr wrap="square" lIns="0" tIns="0" rIns="0" bIns="0" rtlCol="0" anchor="ctr"/>
          <a:lstStyle/>
          <a:p>
            <a:pPr algn="ctr" indent="0" marL="0">
              <a:buNone/>
            </a:pPr>
            <a:r>
              <a:rPr lang="en-US" sz="1400" b="1" dirty="0">
                <a:solidFill>
                  <a:schemeClr val="accent3"/>
                </a:solidFill>
              </a:rPr>
              <a:t>오픈소스SW실습 · 주제 발표</a:t>
            </a:r>
            <a:endParaRPr lang="en-US" sz="1400" dirty="0"/>
          </a:p>
        </p:txBody>
      </p:sp>
      <p:sp>
        <p:nvSpPr>
          <p:cNvPr id="3" name="Text 0"/>
          <p:cNvSpPr/>
          <p:nvPr>
            <p:ph idx="101" type="title" hasCustomPrompt="1"/>
          </p:nvPr>
        </p:nvSpPr>
        <p:spPr>
          <a:xfrm>
            <a:off x="548640" y="2194560"/>
            <a:ext cx="8046720" cy="914400"/>
          </a:xfrm>
          <a:prstGeom prst="rect">
            <a:avLst/>
          </a:prstGeom>
          <a:noFill/>
          <a:ln/>
        </p:spPr>
        <p:txBody>
          <a:bodyPr wrap="square" lIns="0" tIns="0" rIns="0" bIns="0" rtlCol="0" anchor="ctr"/>
          <a:lstStyle/>
          <a:p>
            <a:pPr algn="ctr" indent="0" marL="0">
              <a:buNone/>
            </a:pPr>
            <a:r>
              <a:rPr lang="en-US" sz="4800" b="1" dirty="0">
                <a:solidFill>
                  <a:schemeClr val="bg1"/>
                </a:solidFill>
              </a:rPr>
              <a:t>모의투자 배틀</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lIns="0" tIns="0" rIns="0" bIns="0" rtlCol="0"/>
          <a:lstStyle/>
          <a:p>
            <a:pPr indent="0" marL="0">
              <a:buNone/>
            </a:pPr>
            <a:r>
              <a:rPr lang="en-US" sz="1200" b="1" dirty="0">
                <a:solidFill>
                  <a:schemeClr val="accent1"/>
                </a:solidFill>
              </a:rPr>
              <a:t>주제 소개</a:t>
            </a: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왜 모의투자 배틀인가</a:t>
            </a:r>
            <a:endParaRPr lang="en-US" sz="3200" dirty="0"/>
          </a:p>
        </p:txBody>
      </p:sp>
      <p:sp>
        <p:nvSpPr>
          <p:cNvPr id="4" name="card-0"/>
          <p:cNvSpPr/>
          <p:nvPr/>
        </p:nvSpPr>
        <p:spPr>
          <a:xfrm>
            <a:off x="457200" y="1417320"/>
            <a:ext cx="2560320" cy="2103120"/>
          </a:xfrm>
          <a:prstGeom prst="roundRect">
            <a:avLst>
              <a:gd name="adj" fmla="val 5217"/>
            </a:avLst>
          </a:prstGeom>
          <a:solidFill>
            <a:schemeClr val="bg2"/>
          </a:solidFill>
          <a:ln w="12700">
            <a:solidFill>
              <a:schemeClr val="bg2"/>
            </a:solidFill>
            <a:prstDash val="solid"/>
          </a:ln>
        </p:spPr>
      </p:sp>
      <p:sp>
        <p:nvSpPr>
          <p:cNvPr id="5" name="card-name-0"/>
          <p:cNvSpPr txBox="1"/>
          <p:nvPr/>
        </p:nvSpPr>
        <p:spPr>
          <a:xfrm>
            <a:off x="731520" y="1691640"/>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증권사 모의투자</a:t>
            </a:r>
            <a:endParaRPr lang="en-US" sz="1600" dirty="0"/>
          </a:p>
        </p:txBody>
      </p:sp>
      <p:sp>
        <p:nvSpPr>
          <p:cNvPr id="6" name="card-lab-0-0"/>
          <p:cNvSpPr txBox="1"/>
          <p:nvPr/>
        </p:nvSpPr>
        <p:spPr>
          <a:xfrm>
            <a:off x="731520" y="2240280"/>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기간</a:t>
            </a:r>
            <a:endParaRPr lang="en-US" sz="1100" dirty="0"/>
          </a:p>
        </p:txBody>
      </p:sp>
      <p:sp>
        <p:nvSpPr>
          <p:cNvPr id="7" name="card-val-0-0"/>
          <p:cNvSpPr txBox="1"/>
          <p:nvPr/>
        </p:nvSpPr>
        <p:spPr>
          <a:xfrm>
            <a:off x="1280160" y="2240280"/>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몇 주 ~ 몇 달</a:t>
            </a:r>
            <a:endParaRPr lang="en-US" sz="1400" dirty="0"/>
          </a:p>
        </p:txBody>
      </p:sp>
      <p:sp>
        <p:nvSpPr>
          <p:cNvPr id="8" name="card-lab-0-1"/>
          <p:cNvSpPr txBox="1"/>
          <p:nvPr/>
        </p:nvSpPr>
        <p:spPr>
          <a:xfrm>
            <a:off x="731520" y="2624328"/>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인원</a:t>
            </a:r>
            <a:endParaRPr lang="en-US" sz="1100" dirty="0"/>
          </a:p>
        </p:txBody>
      </p:sp>
      <p:sp>
        <p:nvSpPr>
          <p:cNvPr id="9" name="card-val-0-1"/>
          <p:cNvSpPr txBox="1"/>
          <p:nvPr/>
        </p:nvSpPr>
        <p:spPr>
          <a:xfrm>
            <a:off x="1280160" y="2624328"/>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혼자</a:t>
            </a:r>
            <a:endParaRPr lang="en-US" sz="1400" dirty="0"/>
          </a:p>
        </p:txBody>
      </p:sp>
      <p:sp>
        <p:nvSpPr>
          <p:cNvPr id="10" name="card-lab-0-2"/>
          <p:cNvSpPr txBox="1"/>
          <p:nvPr/>
        </p:nvSpPr>
        <p:spPr>
          <a:xfrm>
            <a:off x="731520" y="3008376"/>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상대</a:t>
            </a:r>
            <a:endParaRPr lang="en-US" sz="1100" dirty="0"/>
          </a:p>
        </p:txBody>
      </p:sp>
      <p:sp>
        <p:nvSpPr>
          <p:cNvPr id="11" name="card-val-0-2"/>
          <p:cNvSpPr txBox="1"/>
          <p:nvPr/>
        </p:nvSpPr>
        <p:spPr>
          <a:xfrm>
            <a:off x="1280160" y="3008376"/>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실제 시장</a:t>
            </a:r>
            <a:endParaRPr lang="en-US" sz="1400" dirty="0"/>
          </a:p>
        </p:txBody>
      </p:sp>
      <p:sp>
        <p:nvSpPr>
          <p:cNvPr id="12" name="card-1"/>
          <p:cNvSpPr/>
          <p:nvPr/>
        </p:nvSpPr>
        <p:spPr>
          <a:xfrm>
            <a:off x="3291840" y="1417320"/>
            <a:ext cx="2560320" cy="2103120"/>
          </a:xfrm>
          <a:prstGeom prst="roundRect">
            <a:avLst>
              <a:gd name="adj" fmla="val 5217"/>
            </a:avLst>
          </a:prstGeom>
          <a:solidFill>
            <a:schemeClr val="bg2"/>
          </a:solidFill>
          <a:ln w="12700">
            <a:solidFill>
              <a:schemeClr val="bg2"/>
            </a:solidFill>
            <a:prstDash val="solid"/>
          </a:ln>
        </p:spPr>
      </p:sp>
      <p:sp>
        <p:nvSpPr>
          <p:cNvPr id="13" name="card-name-1"/>
          <p:cNvSpPr txBox="1"/>
          <p:nvPr/>
        </p:nvSpPr>
        <p:spPr>
          <a:xfrm>
            <a:off x="3566160" y="1691640"/>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블라인드 차트 게임</a:t>
            </a:r>
            <a:endParaRPr lang="en-US" sz="1600" dirty="0"/>
          </a:p>
        </p:txBody>
      </p:sp>
      <p:sp>
        <p:nvSpPr>
          <p:cNvPr id="14" name="card-lab-1-0"/>
          <p:cNvSpPr txBox="1"/>
          <p:nvPr/>
        </p:nvSpPr>
        <p:spPr>
          <a:xfrm>
            <a:off x="3566160" y="2240280"/>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기간</a:t>
            </a:r>
            <a:endParaRPr lang="en-US" sz="1100" dirty="0"/>
          </a:p>
        </p:txBody>
      </p:sp>
      <p:sp>
        <p:nvSpPr>
          <p:cNvPr id="15" name="card-val-1-0"/>
          <p:cNvSpPr txBox="1"/>
          <p:nvPr/>
        </p:nvSpPr>
        <p:spPr>
          <a:xfrm>
            <a:off x="4114800" y="2240280"/>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한 판 수 분</a:t>
            </a:r>
            <a:endParaRPr lang="en-US" sz="1400" dirty="0"/>
          </a:p>
        </p:txBody>
      </p:sp>
      <p:sp>
        <p:nvSpPr>
          <p:cNvPr id="16" name="card-lab-1-1"/>
          <p:cNvSpPr txBox="1"/>
          <p:nvPr/>
        </p:nvSpPr>
        <p:spPr>
          <a:xfrm>
            <a:off x="3566160" y="2624328"/>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인원</a:t>
            </a:r>
            <a:endParaRPr lang="en-US" sz="1100" dirty="0"/>
          </a:p>
        </p:txBody>
      </p:sp>
      <p:sp>
        <p:nvSpPr>
          <p:cNvPr id="17" name="card-val-1-1"/>
          <p:cNvSpPr txBox="1"/>
          <p:nvPr/>
        </p:nvSpPr>
        <p:spPr>
          <a:xfrm>
            <a:off x="4114800" y="2624328"/>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혼자 또는 1:1</a:t>
            </a:r>
            <a:endParaRPr lang="en-US" sz="1400" dirty="0"/>
          </a:p>
        </p:txBody>
      </p:sp>
      <p:sp>
        <p:nvSpPr>
          <p:cNvPr id="18" name="card-lab-1-2"/>
          <p:cNvSpPr txBox="1"/>
          <p:nvPr/>
        </p:nvSpPr>
        <p:spPr>
          <a:xfrm>
            <a:off x="3566160" y="3008376"/>
            <a:ext cx="548640" cy="320040"/>
          </a:xfrm>
          <a:prstGeom prst="rect">
            <a:avLst/>
          </a:prstGeom>
          <a:noFill/>
          <a:ln/>
        </p:spPr>
        <p:txBody>
          <a:bodyPr wrap="square" lIns="0" tIns="0" rIns="0" bIns="0" rtlCol="0" anchor="ctr"/>
          <a:lstStyle/>
          <a:p>
            <a:pPr indent="0" marL="0">
              <a:buNone/>
            </a:pPr>
            <a:r>
              <a:rPr lang="en-US" sz="1100" dirty="0">
                <a:solidFill>
                  <a:schemeClr val="accent4"/>
                </a:solidFill>
              </a:rPr>
              <a:t>상대</a:t>
            </a:r>
            <a:endParaRPr lang="en-US" sz="1100" dirty="0"/>
          </a:p>
        </p:txBody>
      </p:sp>
      <p:sp>
        <p:nvSpPr>
          <p:cNvPr id="19" name="card-val-1-2"/>
          <p:cNvSpPr txBox="1"/>
          <p:nvPr/>
        </p:nvSpPr>
        <p:spPr>
          <a:xfrm>
            <a:off x="4114800" y="3008376"/>
            <a:ext cx="1554480" cy="320040"/>
          </a:xfrm>
          <a:prstGeom prst="rect">
            <a:avLst/>
          </a:prstGeom>
          <a:noFill/>
          <a:ln/>
        </p:spPr>
        <p:txBody>
          <a:bodyPr wrap="square" lIns="0" tIns="0" rIns="0" bIns="0" rtlCol="0" anchor="ctr"/>
          <a:lstStyle/>
          <a:p>
            <a:pPr indent="0" marL="0">
              <a:buNone/>
            </a:pPr>
            <a:r>
              <a:rPr lang="en-US" sz="1400" b="1" dirty="0">
                <a:solidFill>
                  <a:schemeClr val="tx1"/>
                </a:solidFill>
              </a:rPr>
              <a:t>과거 차트</a:t>
            </a:r>
            <a:endParaRPr lang="en-US" sz="1400" dirty="0"/>
          </a:p>
        </p:txBody>
      </p:sp>
      <p:sp>
        <p:nvSpPr>
          <p:cNvPr id="20" name="card-2"/>
          <p:cNvSpPr/>
          <p:nvPr/>
        </p:nvSpPr>
        <p:spPr>
          <a:xfrm>
            <a:off x="6126480" y="1417320"/>
            <a:ext cx="2560320"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1" name="card-name-2"/>
          <p:cNvSpPr txBox="1"/>
          <p:nvPr/>
        </p:nvSpPr>
        <p:spPr>
          <a:xfrm>
            <a:off x="6400800" y="1691640"/>
            <a:ext cx="2103120" cy="365760"/>
          </a:xfrm>
          <a:prstGeom prst="rect">
            <a:avLst/>
          </a:prstGeom>
          <a:noFill/>
          <a:ln/>
        </p:spPr>
        <p:txBody>
          <a:bodyPr wrap="square" lIns="0" tIns="0" rIns="0" bIns="0" rtlCol="0" anchor="ctr"/>
          <a:lstStyle/>
          <a:p>
            <a:pPr indent="0" marL="0">
              <a:buNone/>
            </a:pPr>
            <a:r>
              <a:rPr lang="en-US" sz="1600" b="1" dirty="0">
                <a:solidFill>
                  <a:schemeClr val="bg1"/>
                </a:solidFill>
              </a:rPr>
              <a:t>모의투자 배틀</a:t>
            </a:r>
            <a:endParaRPr lang="en-US" sz="1600" dirty="0"/>
          </a:p>
        </p:txBody>
      </p:sp>
      <p:sp>
        <p:nvSpPr>
          <p:cNvPr id="22" name="card-lab-2-0"/>
          <p:cNvSpPr txBox="1"/>
          <p:nvPr/>
        </p:nvSpPr>
        <p:spPr>
          <a:xfrm>
            <a:off x="6400800" y="2240280"/>
            <a:ext cx="548640" cy="320040"/>
          </a:xfrm>
          <a:prstGeom prst="rect">
            <a:avLst/>
          </a:prstGeom>
          <a:noFill/>
          <a:ln/>
        </p:spPr>
        <p:txBody>
          <a:bodyPr wrap="square" lIns="0" tIns="0" rIns="0" bIns="0" rtlCol="0" anchor="ctr"/>
          <a:lstStyle/>
          <a:p>
            <a:pPr indent="0" marL="0">
              <a:buNone/>
            </a:pPr>
            <a:r>
              <a:rPr lang="en-US" sz="1100" dirty="0">
                <a:solidFill>
                  <a:schemeClr val="accent5"/>
                </a:solidFill>
              </a:rPr>
              <a:t>기간</a:t>
            </a:r>
            <a:endParaRPr lang="en-US" sz="1100" dirty="0"/>
          </a:p>
        </p:txBody>
      </p:sp>
      <p:sp>
        <p:nvSpPr>
          <p:cNvPr id="23" name="card-val-2-0"/>
          <p:cNvSpPr txBox="1"/>
          <p:nvPr/>
        </p:nvSpPr>
        <p:spPr>
          <a:xfrm>
            <a:off x="6949440" y="2240280"/>
            <a:ext cx="1554480" cy="320040"/>
          </a:xfrm>
          <a:prstGeom prst="rect">
            <a:avLst/>
          </a:prstGeom>
          <a:noFill/>
          <a:ln/>
        </p:spPr>
        <p:txBody>
          <a:bodyPr wrap="square" lIns="0" tIns="0" rIns="0" bIns="0" rtlCol="0" anchor="ctr"/>
          <a:lstStyle/>
          <a:p>
            <a:pPr indent="0" marL="0">
              <a:buNone/>
            </a:pPr>
            <a:r>
              <a:rPr lang="en-US" sz="1400" b="1" dirty="0">
                <a:solidFill>
                  <a:schemeClr val="bg1"/>
                </a:solidFill>
              </a:rPr>
              <a:t>10분 단판</a:t>
            </a:r>
            <a:endParaRPr lang="en-US" sz="1400" dirty="0"/>
          </a:p>
        </p:txBody>
      </p:sp>
      <p:sp>
        <p:nvSpPr>
          <p:cNvPr id="24" name="card-lab-2-1"/>
          <p:cNvSpPr txBox="1"/>
          <p:nvPr/>
        </p:nvSpPr>
        <p:spPr>
          <a:xfrm>
            <a:off x="6400800" y="2624328"/>
            <a:ext cx="548640" cy="320040"/>
          </a:xfrm>
          <a:prstGeom prst="rect">
            <a:avLst/>
          </a:prstGeom>
          <a:noFill/>
          <a:ln/>
        </p:spPr>
        <p:txBody>
          <a:bodyPr wrap="square" lIns="0" tIns="0" rIns="0" bIns="0" rtlCol="0" anchor="ctr"/>
          <a:lstStyle/>
          <a:p>
            <a:pPr indent="0" marL="0">
              <a:buNone/>
            </a:pPr>
            <a:r>
              <a:rPr lang="en-US" sz="1100" dirty="0">
                <a:solidFill>
                  <a:schemeClr val="accent5"/>
                </a:solidFill>
              </a:rPr>
              <a:t>인원</a:t>
            </a:r>
            <a:endParaRPr lang="en-US" sz="1100" dirty="0"/>
          </a:p>
        </p:txBody>
      </p:sp>
      <p:sp>
        <p:nvSpPr>
          <p:cNvPr id="25" name="card-val-2-1"/>
          <p:cNvSpPr txBox="1"/>
          <p:nvPr/>
        </p:nvSpPr>
        <p:spPr>
          <a:xfrm>
            <a:off x="6949440" y="2624328"/>
            <a:ext cx="1554480" cy="320040"/>
          </a:xfrm>
          <a:prstGeom prst="rect">
            <a:avLst/>
          </a:prstGeom>
          <a:noFill/>
          <a:ln/>
        </p:spPr>
        <p:txBody>
          <a:bodyPr wrap="square" lIns="0" tIns="0" rIns="0" bIns="0" rtlCol="0" anchor="ctr"/>
          <a:lstStyle/>
          <a:p>
            <a:pPr indent="0" marL="0">
              <a:buNone/>
            </a:pPr>
            <a:r>
              <a:rPr lang="en-US" sz="1400" b="1" dirty="0">
                <a:solidFill>
                  <a:schemeClr val="bg1"/>
                </a:solidFill>
              </a:rPr>
              <a:t>최대 8명</a:t>
            </a:r>
            <a:endParaRPr lang="en-US" sz="1400" dirty="0"/>
          </a:p>
        </p:txBody>
      </p:sp>
      <p:sp>
        <p:nvSpPr>
          <p:cNvPr id="26" name="card-lab-2-2"/>
          <p:cNvSpPr txBox="1"/>
          <p:nvPr/>
        </p:nvSpPr>
        <p:spPr>
          <a:xfrm>
            <a:off x="6400800" y="3008376"/>
            <a:ext cx="548640" cy="320040"/>
          </a:xfrm>
          <a:prstGeom prst="rect">
            <a:avLst/>
          </a:prstGeom>
          <a:noFill/>
          <a:ln/>
        </p:spPr>
        <p:txBody>
          <a:bodyPr wrap="square" lIns="0" tIns="0" rIns="0" bIns="0" rtlCol="0" anchor="ctr"/>
          <a:lstStyle/>
          <a:p>
            <a:pPr indent="0" marL="0">
              <a:buNone/>
            </a:pPr>
            <a:r>
              <a:rPr lang="en-US" sz="1100" dirty="0">
                <a:solidFill>
                  <a:schemeClr val="accent5"/>
                </a:solidFill>
              </a:rPr>
              <a:t>상대</a:t>
            </a:r>
            <a:endParaRPr lang="en-US" sz="1100" dirty="0"/>
          </a:p>
        </p:txBody>
      </p:sp>
      <p:sp>
        <p:nvSpPr>
          <p:cNvPr id="27" name="card-val-2-2"/>
          <p:cNvSpPr txBox="1"/>
          <p:nvPr/>
        </p:nvSpPr>
        <p:spPr>
          <a:xfrm>
            <a:off x="6949440" y="3008376"/>
            <a:ext cx="1554480" cy="320040"/>
          </a:xfrm>
          <a:prstGeom prst="rect">
            <a:avLst/>
          </a:prstGeom>
          <a:noFill/>
          <a:ln/>
        </p:spPr>
        <p:txBody>
          <a:bodyPr wrap="square" lIns="0" tIns="0" rIns="0" bIns="0" rtlCol="0" anchor="ctr"/>
          <a:lstStyle/>
          <a:p>
            <a:pPr indent="0" marL="0">
              <a:buNone/>
            </a:pPr>
            <a:r>
              <a:rPr lang="en-US" sz="1400" b="1" dirty="0">
                <a:solidFill>
                  <a:schemeClr val="accent3"/>
                </a:solidFill>
              </a:rPr>
              <a:t>다른 참가자</a:t>
            </a:r>
            <a:endParaRPr lang="en-US" sz="1400" dirty="0"/>
          </a:p>
        </p:txBody>
      </p:sp>
      <p:sp>
        <p:nvSpPr>
          <p:cNvPr id="28" name="why-msg"/>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400" dirty="0">
                <a:solidFill>
                  <a:schemeClr val="tx1"/>
                </a:solidFill>
              </a:rPr>
              <a:t>기존 서비스는 모두 </a:t>
            </a:r>
            <a:pPr indent="0" marL="0">
              <a:buNone/>
            </a:pPr>
            <a:r>
              <a:rPr lang="en-US" sz="1400" b="1" dirty="0">
                <a:solidFill>
                  <a:schemeClr val="tx1"/>
                </a:solidFill>
              </a:rPr>
              <a:t>'차트 vs 나'</a:t>
            </a:r>
            <a:pPr indent="0" marL="0">
              <a:buNone/>
            </a:pPr>
            <a:r>
              <a:rPr lang="en-US" sz="1400" dirty="0">
                <a:solidFill>
                  <a:schemeClr val="tx1"/>
                </a:solidFill>
              </a:rPr>
              <a:t> — 우리는 참가자끼리 시장을 흔드는 </a:t>
            </a:r>
            <a:pPr indent="0" marL="0">
              <a:buNone/>
            </a:pPr>
            <a:r>
              <a:rPr lang="en-US" sz="1400" b="1" dirty="0">
                <a:solidFill>
                  <a:schemeClr val="accent1"/>
                </a:solidFill>
              </a:rPr>
              <a:t>'사람 vs 사람'</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lIns="0" tIns="0" rIns="0" bIns="0" rtlCol="0"/>
          <a:lstStyle/>
          <a:p>
            <a:pPr indent="0" marL="0">
              <a:buNone/>
            </a:pPr>
            <a:r>
              <a:rPr lang="en-US" sz="1200" b="1" dirty="0">
                <a:solidFill>
                  <a:schemeClr val="accent1"/>
                </a:solidFill>
              </a:rPr>
              <a:t>핵심 기능 01</a:t>
            </a: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최대 8인 실시간 방 대결</a:t>
            </a:r>
            <a:endParaRPr lang="en-US" sz="3200" dirty="0"/>
          </a:p>
        </p:txBody>
      </p:sp>
      <p:sp>
        <p:nvSpPr>
          <p:cNvPr id="4" name="f1-card-0"/>
          <p:cNvSpPr/>
          <p:nvPr/>
        </p:nvSpPr>
        <p:spPr>
          <a:xfrm>
            <a:off x="457200" y="1371600"/>
            <a:ext cx="8229600" cy="868680"/>
          </a:xfrm>
          <a:prstGeom prst="roundRect">
            <a:avLst>
              <a:gd name="adj" fmla="val 10526"/>
            </a:avLst>
          </a:prstGeom>
          <a:solidFill>
            <a:schemeClr val="bg2"/>
          </a:solidFill>
          <a:ln w="12700">
            <a:solidFill>
              <a:schemeClr val="bg2"/>
            </a:solidFill>
            <a:prstDash val="solid"/>
          </a:ln>
        </p:spPr>
      </p:sp>
      <p:sp>
        <p:nvSpPr>
          <p:cNvPr id="5" name="f1-h-0"/>
          <p:cNvSpPr txBox="1"/>
          <p:nvPr/>
        </p:nvSpPr>
        <p:spPr>
          <a:xfrm>
            <a:off x="731520" y="1490472"/>
            <a:ext cx="7680960" cy="310896"/>
          </a:xfrm>
          <a:prstGeom prst="rect">
            <a:avLst/>
          </a:prstGeom>
          <a:noFill/>
          <a:ln/>
        </p:spPr>
        <p:txBody>
          <a:bodyPr wrap="square" lIns="0" tIns="0" rIns="0" bIns="0" rtlCol="0" anchor="ctr"/>
          <a:lstStyle/>
          <a:p>
            <a:pPr indent="0" marL="0">
              <a:buNone/>
            </a:pPr>
            <a:r>
              <a:rPr lang="en-US" sz="1600" b="1" dirty="0">
                <a:solidFill>
                  <a:schemeClr val="tx1"/>
                </a:solidFill>
              </a:rPr>
              <a:t>PIN으로 바로 입장</a:t>
            </a:r>
            <a:endParaRPr lang="en-US" sz="1600" dirty="0"/>
          </a:p>
        </p:txBody>
      </p:sp>
      <p:sp>
        <p:nvSpPr>
          <p:cNvPr id="6" name="f1-d-0"/>
          <p:cNvSpPr txBox="1"/>
          <p:nvPr/>
        </p:nvSpPr>
        <p:spPr>
          <a:xfrm>
            <a:off x="731520" y="1828800"/>
            <a:ext cx="7680960" cy="310896"/>
          </a:xfrm>
          <a:prstGeom prst="rect">
            <a:avLst/>
          </a:prstGeom>
          <a:noFill/>
          <a:ln/>
        </p:spPr>
        <p:txBody>
          <a:bodyPr wrap="square" lIns="0" tIns="0" rIns="0" bIns="0" rtlCol="0" anchor="t"/>
          <a:lstStyle/>
          <a:p>
            <a:pPr indent="0" marL="0">
              <a:buNone/>
            </a:pPr>
            <a:r>
              <a:rPr lang="en-US" sz="1300" dirty="0">
                <a:solidFill>
                  <a:schemeClr val="accent4"/>
                </a:solidFill>
              </a:rPr>
              <a:t>방장이 방을 만들면 6자리 PIN이 생성되고, 참가자는 PIN만 입력하면 최대 8명까지 같은 방에 모입니다.</a:t>
            </a:r>
            <a:endParaRPr lang="en-US" sz="1300" dirty="0"/>
          </a:p>
        </p:txBody>
      </p:sp>
      <p:sp>
        <p:nvSpPr>
          <p:cNvPr id="7" name="f1-card-1"/>
          <p:cNvSpPr/>
          <p:nvPr/>
        </p:nvSpPr>
        <p:spPr>
          <a:xfrm>
            <a:off x="457200" y="2377440"/>
            <a:ext cx="8229600" cy="868680"/>
          </a:xfrm>
          <a:prstGeom prst="roundRect">
            <a:avLst>
              <a:gd name="adj" fmla="val 10526"/>
            </a:avLst>
          </a:prstGeom>
          <a:solidFill>
            <a:schemeClr val="bg2"/>
          </a:solidFill>
          <a:ln w="12700">
            <a:solidFill>
              <a:schemeClr val="bg2"/>
            </a:solidFill>
            <a:prstDash val="solid"/>
          </a:ln>
        </p:spPr>
      </p:sp>
      <p:sp>
        <p:nvSpPr>
          <p:cNvPr id="8" name="f1-h-1"/>
          <p:cNvSpPr txBox="1"/>
          <p:nvPr/>
        </p:nvSpPr>
        <p:spPr>
          <a:xfrm>
            <a:off x="731520" y="2496312"/>
            <a:ext cx="7680960" cy="310896"/>
          </a:xfrm>
          <a:prstGeom prst="rect">
            <a:avLst/>
          </a:prstGeom>
          <a:noFill/>
          <a:ln/>
        </p:spPr>
        <p:txBody>
          <a:bodyPr wrap="square" lIns="0" tIns="0" rIns="0" bIns="0" rtlCol="0" anchor="ctr"/>
          <a:lstStyle/>
          <a:p>
            <a:pPr indent="0" marL="0">
              <a:buNone/>
            </a:pPr>
            <a:r>
              <a:rPr lang="en-US" sz="1600" b="1" dirty="0">
                <a:solidFill>
                  <a:schemeClr val="tx1"/>
                </a:solidFill>
              </a:rPr>
              <a:t>같은 시세, 같은 순간</a:t>
            </a:r>
            <a:endParaRPr lang="en-US" sz="1600" dirty="0"/>
          </a:p>
        </p:txBody>
      </p:sp>
      <p:sp>
        <p:nvSpPr>
          <p:cNvPr id="9" name="f1-d-1"/>
          <p:cNvSpPr txBox="1"/>
          <p:nvPr/>
        </p:nvSpPr>
        <p:spPr>
          <a:xfrm>
            <a:off x="731520" y="2834640"/>
            <a:ext cx="7680960" cy="310896"/>
          </a:xfrm>
          <a:prstGeom prst="rect">
            <a:avLst/>
          </a:prstGeom>
          <a:noFill/>
          <a:ln/>
        </p:spPr>
        <p:txBody>
          <a:bodyPr wrap="square" lIns="0" tIns="0" rIns="0" bIns="0" rtlCol="0" anchor="t"/>
          <a:lstStyle/>
          <a:p>
            <a:pPr indent="0" marL="0">
              <a:buNone/>
            </a:pPr>
            <a:r>
              <a:rPr lang="en-US" sz="1300" dirty="0">
                <a:solidFill>
                  <a:schemeClr val="accent4"/>
                </a:solidFill>
              </a:rPr>
              <a:t>서버가 1초마다 만든 시세를 모든 참가자에게 동시에 보내, 누구도 먼저 보거나 늦게 보지 않습니다.</a:t>
            </a:r>
            <a:endParaRPr lang="en-US" sz="1300" dirty="0"/>
          </a:p>
        </p:txBody>
      </p:sp>
      <p:sp>
        <p:nvSpPr>
          <p:cNvPr id="10" name="f1-card-2"/>
          <p:cNvSpPr/>
          <p:nvPr/>
        </p:nvSpPr>
        <p:spPr>
          <a:xfrm>
            <a:off x="457200" y="3383280"/>
            <a:ext cx="8229600" cy="868680"/>
          </a:xfrm>
          <a:prstGeom prst="roundRect">
            <a:avLst>
              <a:gd name="adj" fmla="val 10526"/>
            </a:avLst>
          </a:prstGeom>
          <a:solidFill>
            <a:schemeClr val="bg2"/>
          </a:solidFill>
          <a:ln w="12700">
            <a:solidFill>
              <a:schemeClr val="bg2"/>
            </a:solidFill>
            <a:prstDash val="solid"/>
          </a:ln>
        </p:spPr>
      </p:sp>
      <p:sp>
        <p:nvSpPr>
          <p:cNvPr id="11" name="f1-h-2"/>
          <p:cNvSpPr txBox="1"/>
          <p:nvPr/>
        </p:nvSpPr>
        <p:spPr>
          <a:xfrm>
            <a:off x="731520" y="3502152"/>
            <a:ext cx="7680960" cy="310896"/>
          </a:xfrm>
          <a:prstGeom prst="rect">
            <a:avLst/>
          </a:prstGeom>
          <a:noFill/>
          <a:ln/>
        </p:spPr>
        <p:txBody>
          <a:bodyPr wrap="square" lIns="0" tIns="0" rIns="0" bIns="0" rtlCol="0" anchor="ctr"/>
          <a:lstStyle/>
          <a:p>
            <a:pPr indent="0" marL="0">
              <a:buNone/>
            </a:pPr>
            <a:r>
              <a:rPr lang="en-US" sz="1600" b="1" dirty="0">
                <a:solidFill>
                  <a:schemeClr val="tx1"/>
                </a:solidFill>
              </a:rPr>
              <a:t>실시간 수익률 순위</a:t>
            </a:r>
            <a:endParaRPr lang="en-US" sz="1600" dirty="0"/>
          </a:p>
        </p:txBody>
      </p:sp>
      <p:sp>
        <p:nvSpPr>
          <p:cNvPr id="12" name="f1-d-2"/>
          <p:cNvSpPr txBox="1"/>
          <p:nvPr/>
        </p:nvSpPr>
        <p:spPr>
          <a:xfrm>
            <a:off x="731520" y="3840480"/>
            <a:ext cx="7680960" cy="310896"/>
          </a:xfrm>
          <a:prstGeom prst="rect">
            <a:avLst/>
          </a:prstGeom>
          <a:noFill/>
          <a:ln/>
        </p:spPr>
        <p:txBody>
          <a:bodyPr wrap="square" lIns="0" tIns="0" rIns="0" bIns="0" rtlCol="0" anchor="t"/>
          <a:lstStyle/>
          <a:p>
            <a:pPr indent="0" marL="0">
              <a:buNone/>
            </a:pPr>
            <a:r>
              <a:rPr lang="en-US" sz="1300" dirty="0">
                <a:solidFill>
                  <a:schemeClr val="accent4"/>
                </a:solidFill>
              </a:rPr>
              <a:t>매매할 때마다 수익률이 다시 계산되고, 10분 내내 순위가 실시간으로 바뀝니다.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lIns="0" tIns="0" rIns="0" bIns="0" rtlCol="0"/>
          <a:lstStyle/>
          <a:p>
            <a:pPr indent="0" marL="0">
              <a:buNone/>
            </a:pPr>
            <a:r>
              <a:rPr lang="en-US" sz="1200" b="1" dirty="0">
                <a:solidFill>
                  <a:schemeClr val="accent1"/>
                </a:solidFill>
              </a:rPr>
              <a:t>핵심 기능 02</a:t>
            </a: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루머 카드 심리전</a:t>
            </a:r>
            <a:endParaRPr lang="en-US" sz="3200" dirty="0"/>
          </a:p>
        </p:txBody>
      </p:sp>
      <p:sp>
        <p:nvSpPr>
          <p:cNvPr id="4" name="feed"/>
          <p:cNvSpPr/>
          <p:nvPr/>
        </p:nvSpPr>
        <p:spPr>
          <a:xfrm>
            <a:off x="457200" y="1371600"/>
            <a:ext cx="3931920" cy="2971800"/>
          </a:xfrm>
          <a:prstGeom prst="roundRect">
            <a:avLst>
              <a:gd name="adj" fmla="val 3692"/>
            </a:avLst>
          </a:prstGeom>
          <a:solidFill>
            <a:schemeClr val="bg2"/>
          </a:solidFill>
          <a:ln w="12700">
            <a:solidFill>
              <a:schemeClr val="bg2"/>
            </a:solidFill>
            <a:prstDash val="solid"/>
          </a:ln>
        </p:spPr>
      </p:sp>
      <p:sp>
        <p:nvSpPr>
          <p:cNvPr id="5" name="feed-title"/>
          <p:cNvSpPr txBox="1"/>
          <p:nvPr/>
        </p:nvSpPr>
        <p:spPr>
          <a:xfrm>
            <a:off x="685800" y="1481328"/>
            <a:ext cx="1828800" cy="320040"/>
          </a:xfrm>
          <a:prstGeom prst="rect">
            <a:avLst/>
          </a:prstGeom>
          <a:noFill/>
          <a:ln/>
        </p:spPr>
        <p:txBody>
          <a:bodyPr wrap="square" lIns="0" tIns="0" rIns="0" bIns="0" rtlCol="0" anchor="ctr"/>
          <a:lstStyle/>
          <a:p>
            <a:pPr indent="0" marL="0">
              <a:buNone/>
            </a:pPr>
            <a:r>
              <a:rPr lang="en-US" sz="1300" b="1" dirty="0">
                <a:solidFill>
                  <a:schemeClr val="tx1"/>
                </a:solidFill>
              </a:rPr>
              <a:t>뉴스 피드</a:t>
            </a:r>
            <a:endParaRPr lang="en-US" sz="1300" dirty="0"/>
          </a:p>
        </p:txBody>
      </p:sp>
      <p:sp>
        <p:nvSpPr>
          <p:cNvPr id="6" name="news-0"/>
          <p:cNvSpPr/>
          <p:nvPr/>
        </p:nvSpPr>
        <p:spPr>
          <a:xfrm>
            <a:off x="685800" y="1920240"/>
            <a:ext cx="3474720" cy="603504"/>
          </a:xfrm>
          <a:prstGeom prst="roundRect">
            <a:avLst>
              <a:gd name="adj" fmla="val 12121"/>
            </a:avLst>
          </a:prstGeom>
          <a:solidFill>
            <a:schemeClr val="bg1"/>
          </a:solidFill>
          <a:ln w="9525">
            <a:solidFill>
              <a:schemeClr val="accent5"/>
            </a:solidFill>
            <a:prstDash val="solid"/>
          </a:ln>
        </p:spPr>
      </p:sp>
      <p:sp>
        <p:nvSpPr>
          <p:cNvPr id="7" name="tag-0"/>
          <p:cNvSpPr/>
          <p:nvPr/>
        </p:nvSpPr>
        <p:spPr>
          <a:xfrm>
            <a:off x="822960" y="2084832"/>
            <a:ext cx="502920" cy="274320"/>
          </a:xfrm>
          <a:prstGeom prst="roundRect">
            <a:avLst>
              <a:gd name="adj" fmla="val 16667"/>
            </a:avLst>
          </a:prstGeom>
          <a:solidFill>
            <a:schemeClr val="accent1"/>
          </a:solidFill>
          <a:ln w="12700">
            <a:solidFill>
              <a:schemeClr val="accent1"/>
            </a:solidFill>
            <a:prstDash val="solid"/>
          </a:ln>
        </p:spPr>
      </p:sp>
      <p:sp>
        <p:nvSpPr>
          <p:cNvPr id="8" name="tag-t-0"/>
          <p:cNvSpPr txBox="1"/>
          <p:nvPr/>
        </p:nvSpPr>
        <p:spPr>
          <a:xfrm>
            <a:off x="822960" y="2084832"/>
            <a:ext cx="502920" cy="274320"/>
          </a:xfrm>
          <a:prstGeom prst="rect">
            <a:avLst/>
          </a:prstGeom>
          <a:noFill/>
          <a:ln/>
        </p:spPr>
        <p:txBody>
          <a:bodyPr wrap="square" lIns="0" tIns="0" rIns="0" bIns="0" rtlCol="0" anchor="ctr"/>
          <a:lstStyle/>
          <a:p>
            <a:pPr algn="ctr" indent="0" marL="0">
              <a:buNone/>
            </a:pPr>
            <a:r>
              <a:rPr lang="en-US" sz="1000" b="1" dirty="0">
                <a:solidFill>
                  <a:schemeClr val="bg1"/>
                </a:solidFill>
              </a:rPr>
              <a:t>속보</a:t>
            </a:r>
            <a:endParaRPr lang="en-US" sz="1000" dirty="0"/>
          </a:p>
        </p:txBody>
      </p:sp>
      <p:sp>
        <p:nvSpPr>
          <p:cNvPr id="9" name="news-t-0"/>
          <p:cNvSpPr txBox="1"/>
          <p:nvPr/>
        </p:nvSpPr>
        <p:spPr>
          <a:xfrm>
            <a:off x="1417320" y="2039112"/>
            <a:ext cx="2651760" cy="365760"/>
          </a:xfrm>
          <a:prstGeom prst="rect">
            <a:avLst/>
          </a:prstGeom>
          <a:noFill/>
          <a:ln/>
        </p:spPr>
        <p:txBody>
          <a:bodyPr wrap="square" lIns="0" tIns="0" rIns="0" bIns="0" rtlCol="0" anchor="ctr"/>
          <a:lstStyle/>
          <a:p>
            <a:pPr indent="0" marL="0">
              <a:buNone/>
            </a:pPr>
            <a:r>
              <a:rPr lang="en-US" sz="1200" dirty="0">
                <a:solidFill>
                  <a:schemeClr val="tx1"/>
                </a:solidFill>
              </a:rPr>
              <a:t>가나전자, 차세대 칩 대형 수주 임박</a:t>
            </a:r>
            <a:endParaRPr lang="en-US" sz="1200" dirty="0"/>
          </a:p>
        </p:txBody>
      </p:sp>
      <p:sp>
        <p:nvSpPr>
          <p:cNvPr id="10" name="news-1"/>
          <p:cNvSpPr/>
          <p:nvPr/>
        </p:nvSpPr>
        <p:spPr>
          <a:xfrm>
            <a:off x="685800" y="2670048"/>
            <a:ext cx="3474720" cy="603504"/>
          </a:xfrm>
          <a:prstGeom prst="roundRect">
            <a:avLst>
              <a:gd name="adj" fmla="val 12121"/>
            </a:avLst>
          </a:prstGeom>
          <a:solidFill>
            <a:schemeClr val="bg1"/>
          </a:solidFill>
          <a:ln w="9525">
            <a:solidFill>
              <a:schemeClr val="accent5"/>
            </a:solidFill>
            <a:prstDash val="solid"/>
          </a:ln>
        </p:spPr>
      </p:sp>
      <p:sp>
        <p:nvSpPr>
          <p:cNvPr id="11" name="tag-1"/>
          <p:cNvSpPr/>
          <p:nvPr/>
        </p:nvSpPr>
        <p:spPr>
          <a:xfrm>
            <a:off x="822960" y="2834640"/>
            <a:ext cx="502920" cy="274320"/>
          </a:xfrm>
          <a:prstGeom prst="roundRect">
            <a:avLst>
              <a:gd name="adj" fmla="val 16667"/>
            </a:avLst>
          </a:prstGeom>
          <a:solidFill>
            <a:schemeClr val="accent1"/>
          </a:solidFill>
          <a:ln w="12700">
            <a:solidFill>
              <a:schemeClr val="accent1"/>
            </a:solidFill>
            <a:prstDash val="solid"/>
          </a:ln>
        </p:spPr>
      </p:sp>
      <p:sp>
        <p:nvSpPr>
          <p:cNvPr id="12" name="tag-t-1"/>
          <p:cNvSpPr txBox="1"/>
          <p:nvPr/>
        </p:nvSpPr>
        <p:spPr>
          <a:xfrm>
            <a:off x="822960" y="2834640"/>
            <a:ext cx="502920" cy="274320"/>
          </a:xfrm>
          <a:prstGeom prst="rect">
            <a:avLst/>
          </a:prstGeom>
          <a:noFill/>
          <a:ln/>
        </p:spPr>
        <p:txBody>
          <a:bodyPr wrap="square" lIns="0" tIns="0" rIns="0" bIns="0" rtlCol="0" anchor="ctr"/>
          <a:lstStyle/>
          <a:p>
            <a:pPr algn="ctr" indent="0" marL="0">
              <a:buNone/>
            </a:pPr>
            <a:r>
              <a:rPr lang="en-US" sz="1000" b="1" dirty="0">
                <a:solidFill>
                  <a:schemeClr val="bg1"/>
                </a:solidFill>
              </a:rPr>
              <a:t>속보</a:t>
            </a:r>
            <a:endParaRPr lang="en-US" sz="1000" dirty="0"/>
          </a:p>
        </p:txBody>
      </p:sp>
      <p:sp>
        <p:nvSpPr>
          <p:cNvPr id="13" name="news-t-1"/>
          <p:cNvSpPr txBox="1"/>
          <p:nvPr/>
        </p:nvSpPr>
        <p:spPr>
          <a:xfrm>
            <a:off x="1417320" y="2788920"/>
            <a:ext cx="2651760" cy="365760"/>
          </a:xfrm>
          <a:prstGeom prst="rect">
            <a:avLst/>
          </a:prstGeom>
          <a:noFill/>
          <a:ln/>
        </p:spPr>
        <p:txBody>
          <a:bodyPr wrap="square" lIns="0" tIns="0" rIns="0" bIns="0" rtlCol="0" anchor="ctr"/>
          <a:lstStyle/>
          <a:p>
            <a:pPr indent="0" marL="0">
              <a:buNone/>
            </a:pPr>
            <a:r>
              <a:rPr lang="en-US" sz="1200" dirty="0">
                <a:solidFill>
                  <a:schemeClr val="tx1"/>
                </a:solidFill>
              </a:rPr>
              <a:t>다라항공, 유가 급등에 실적 경고</a:t>
            </a:r>
            <a:endParaRPr lang="en-US" sz="1200" dirty="0"/>
          </a:p>
        </p:txBody>
      </p:sp>
      <p:sp>
        <p:nvSpPr>
          <p:cNvPr id="14" name="news-2"/>
          <p:cNvSpPr/>
          <p:nvPr/>
        </p:nvSpPr>
        <p:spPr>
          <a:xfrm>
            <a:off x="685800" y="3419856"/>
            <a:ext cx="3474720" cy="603504"/>
          </a:xfrm>
          <a:prstGeom prst="roundRect">
            <a:avLst>
              <a:gd name="adj" fmla="val 12121"/>
            </a:avLst>
          </a:prstGeom>
          <a:solidFill>
            <a:schemeClr val="bg1"/>
          </a:solidFill>
          <a:ln w="9525">
            <a:solidFill>
              <a:schemeClr val="accent5"/>
            </a:solidFill>
            <a:prstDash val="solid"/>
          </a:ln>
        </p:spPr>
      </p:sp>
      <p:sp>
        <p:nvSpPr>
          <p:cNvPr id="15" name="tag-2"/>
          <p:cNvSpPr/>
          <p:nvPr/>
        </p:nvSpPr>
        <p:spPr>
          <a:xfrm>
            <a:off x="822960" y="3584448"/>
            <a:ext cx="502920" cy="274320"/>
          </a:xfrm>
          <a:prstGeom prst="roundRect">
            <a:avLst>
              <a:gd name="adj" fmla="val 16667"/>
            </a:avLst>
          </a:prstGeom>
          <a:solidFill>
            <a:schemeClr val="accent1"/>
          </a:solidFill>
          <a:ln w="12700">
            <a:solidFill>
              <a:schemeClr val="accent1"/>
            </a:solidFill>
            <a:prstDash val="solid"/>
          </a:ln>
        </p:spPr>
      </p:sp>
      <p:sp>
        <p:nvSpPr>
          <p:cNvPr id="16" name="tag-t-2"/>
          <p:cNvSpPr txBox="1"/>
          <p:nvPr/>
        </p:nvSpPr>
        <p:spPr>
          <a:xfrm>
            <a:off x="822960" y="3584448"/>
            <a:ext cx="502920" cy="274320"/>
          </a:xfrm>
          <a:prstGeom prst="rect">
            <a:avLst/>
          </a:prstGeom>
          <a:noFill/>
          <a:ln/>
        </p:spPr>
        <p:txBody>
          <a:bodyPr wrap="square" lIns="0" tIns="0" rIns="0" bIns="0" rtlCol="0" anchor="ctr"/>
          <a:lstStyle/>
          <a:p>
            <a:pPr algn="ctr" indent="0" marL="0">
              <a:buNone/>
            </a:pPr>
            <a:r>
              <a:rPr lang="en-US" sz="1000" b="1" dirty="0">
                <a:solidFill>
                  <a:schemeClr val="bg1"/>
                </a:solidFill>
              </a:rPr>
              <a:t>속보</a:t>
            </a:r>
            <a:endParaRPr lang="en-US" sz="1000" dirty="0"/>
          </a:p>
        </p:txBody>
      </p:sp>
      <p:sp>
        <p:nvSpPr>
          <p:cNvPr id="17" name="news-t-2"/>
          <p:cNvSpPr txBox="1"/>
          <p:nvPr/>
        </p:nvSpPr>
        <p:spPr>
          <a:xfrm>
            <a:off x="1417320" y="3538728"/>
            <a:ext cx="2651760" cy="365760"/>
          </a:xfrm>
          <a:prstGeom prst="rect">
            <a:avLst/>
          </a:prstGeom>
          <a:noFill/>
          <a:ln/>
        </p:spPr>
        <p:txBody>
          <a:bodyPr wrap="square" lIns="0" tIns="0" rIns="0" bIns="0" rtlCol="0" anchor="ctr"/>
          <a:lstStyle/>
          <a:p>
            <a:pPr indent="0" marL="0">
              <a:buNone/>
            </a:pPr>
            <a:r>
              <a:rPr lang="en-US" sz="1200" dirty="0">
                <a:solidFill>
                  <a:schemeClr val="tx1"/>
                </a:solidFill>
              </a:rPr>
              <a:t>마바게임즈, 신작 출시 연기설</a:t>
            </a:r>
            <a:endParaRPr lang="en-US" sz="1200" dirty="0"/>
          </a:p>
        </p:txBody>
      </p:sp>
      <p:sp>
        <p:nvSpPr>
          <p:cNvPr id="18" name="f2-card-0"/>
          <p:cNvSpPr/>
          <p:nvPr/>
        </p:nvSpPr>
        <p:spPr>
          <a:xfrm>
            <a:off x="4754880" y="1371600"/>
            <a:ext cx="3931920" cy="868680"/>
          </a:xfrm>
          <a:prstGeom prst="roundRect">
            <a:avLst>
              <a:gd name="adj" fmla="val 10526"/>
            </a:avLst>
          </a:prstGeom>
          <a:solidFill>
            <a:schemeClr val="bg2"/>
          </a:solidFill>
          <a:ln w="12700">
            <a:solidFill>
              <a:schemeClr val="bg2"/>
            </a:solidFill>
            <a:prstDash val="solid"/>
          </a:ln>
        </p:spPr>
      </p:sp>
      <p:sp>
        <p:nvSpPr>
          <p:cNvPr id="19" name="f2-h-0"/>
          <p:cNvSpPr txBox="1"/>
          <p:nvPr/>
        </p:nvSpPr>
        <p:spPr>
          <a:xfrm>
            <a:off x="4937760" y="1463040"/>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루머를 퍼뜨린다</a:t>
            </a:r>
            <a:endParaRPr lang="en-US" sz="1500" dirty="0"/>
          </a:p>
        </p:txBody>
      </p:sp>
      <p:sp>
        <p:nvSpPr>
          <p:cNvPr id="20" name="f2-d-0"/>
          <p:cNvSpPr txBox="1"/>
          <p:nvPr/>
        </p:nvSpPr>
        <p:spPr>
          <a:xfrm>
            <a:off x="4937760" y="1755648"/>
            <a:ext cx="3566160" cy="420624"/>
          </a:xfrm>
          <a:prstGeom prst="rect">
            <a:avLst/>
          </a:prstGeom>
          <a:noFill/>
          <a:ln/>
        </p:spPr>
        <p:txBody>
          <a:bodyPr wrap="square" lIns="0" tIns="0" rIns="0" bIns="0" rtlCol="0" anchor="t"/>
          <a:lstStyle/>
          <a:p>
            <a:pPr indent="0" marL="0">
              <a:buNone/>
            </a:pPr>
            <a:r>
              <a:rPr lang="en-US" sz="1100" dirty="0">
                <a:solidFill>
                  <a:schemeClr val="accent4"/>
                </a:solidFill>
              </a:rPr>
              <a:t>게임 시작 시 1인당 루머 카드 2장 지급. 카드를 쓰면 다른 참가자 화면에 '속보' 형태의 뉴스가 뜹니다.</a:t>
            </a:r>
            <a:endParaRPr lang="en-US" sz="1100" dirty="0"/>
          </a:p>
        </p:txBody>
      </p:sp>
      <p:sp>
        <p:nvSpPr>
          <p:cNvPr id="21" name="f2-card-1"/>
          <p:cNvSpPr/>
          <p:nvPr/>
        </p:nvSpPr>
        <p:spPr>
          <a:xfrm>
            <a:off x="4754880" y="2377440"/>
            <a:ext cx="3931920" cy="868680"/>
          </a:xfrm>
          <a:prstGeom prst="roundRect">
            <a:avLst>
              <a:gd name="adj" fmla="val 10526"/>
            </a:avLst>
          </a:prstGeom>
          <a:solidFill>
            <a:schemeClr val="bg2"/>
          </a:solidFill>
          <a:ln w="12700">
            <a:solidFill>
              <a:schemeClr val="bg2"/>
            </a:solidFill>
            <a:prstDash val="solid"/>
          </a:ln>
        </p:spPr>
      </p:sp>
      <p:sp>
        <p:nvSpPr>
          <p:cNvPr id="22" name="f2-h-1"/>
          <p:cNvSpPr txBox="1"/>
          <p:nvPr/>
        </p:nvSpPr>
        <p:spPr>
          <a:xfrm>
            <a:off x="4937760" y="2468880"/>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진짜와 구별 불가</a:t>
            </a:r>
            <a:endParaRPr lang="en-US" sz="1500" dirty="0"/>
          </a:p>
        </p:txBody>
      </p:sp>
      <p:sp>
        <p:nvSpPr>
          <p:cNvPr id="23" name="f2-d-1"/>
          <p:cNvSpPr txBox="1"/>
          <p:nvPr/>
        </p:nvSpPr>
        <p:spPr>
          <a:xfrm>
            <a:off x="4937760" y="2761488"/>
            <a:ext cx="3566160" cy="420624"/>
          </a:xfrm>
          <a:prstGeom prst="rect">
            <a:avLst/>
          </a:prstGeom>
          <a:noFill/>
          <a:ln/>
        </p:spPr>
        <p:txBody>
          <a:bodyPr wrap="square" lIns="0" tIns="0" rIns="0" bIns="0" rtlCol="0" anchor="t"/>
          <a:lstStyle/>
          <a:p>
            <a:pPr indent="0" marL="0">
              <a:buNone/>
            </a:pPr>
            <a:r>
              <a:rPr lang="en-US" sz="1100" dirty="0">
                <a:solidFill>
                  <a:schemeClr val="accent4"/>
                </a:solidFill>
              </a:rPr>
              <a:t>시스템이 내보내는 실제 뉴스와 모양이 똑같아, 믿고 따를지는 오직 각자의 판단입니다.</a:t>
            </a:r>
            <a:endParaRPr lang="en-US" sz="1100" dirty="0"/>
          </a:p>
        </p:txBody>
      </p:sp>
      <p:sp>
        <p:nvSpPr>
          <p:cNvPr id="24" name="f2-card-2"/>
          <p:cNvSpPr/>
          <p:nvPr/>
        </p:nvSpPr>
        <p:spPr>
          <a:xfrm>
            <a:off x="4754880" y="3383280"/>
            <a:ext cx="3931920" cy="868680"/>
          </a:xfrm>
          <a:prstGeom prst="roundRect">
            <a:avLst>
              <a:gd name="adj" fmla="val 10526"/>
            </a:avLst>
          </a:prstGeom>
          <a:solidFill>
            <a:schemeClr val="bg2"/>
          </a:solidFill>
          <a:ln w="12700">
            <a:solidFill>
              <a:schemeClr val="bg2"/>
            </a:solidFill>
            <a:prstDash val="solid"/>
          </a:ln>
        </p:spPr>
      </p:sp>
      <p:sp>
        <p:nvSpPr>
          <p:cNvPr id="25" name="f2-h-2"/>
          <p:cNvSpPr txBox="1"/>
          <p:nvPr/>
        </p:nvSpPr>
        <p:spPr>
          <a:xfrm>
            <a:off x="4937760" y="3474720"/>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끝나면 모두 공개</a:t>
            </a:r>
            <a:endParaRPr lang="en-US" sz="1500" dirty="0"/>
          </a:p>
        </p:txBody>
      </p:sp>
      <p:sp>
        <p:nvSpPr>
          <p:cNvPr id="26" name="f2-d-2"/>
          <p:cNvSpPr txBox="1"/>
          <p:nvPr/>
        </p:nvSpPr>
        <p:spPr>
          <a:xfrm>
            <a:off x="4937760" y="3767328"/>
            <a:ext cx="3566160" cy="420624"/>
          </a:xfrm>
          <a:prstGeom prst="rect">
            <a:avLst/>
          </a:prstGeom>
          <a:noFill/>
          <a:ln/>
        </p:spPr>
        <p:txBody>
          <a:bodyPr wrap="square" lIns="0" tIns="0" rIns="0" bIns="0" rtlCol="0" anchor="t"/>
          <a:lstStyle/>
          <a:p>
            <a:pPr indent="0" marL="0">
              <a:buNone/>
            </a:pPr>
            <a:r>
              <a:rPr lang="en-US" sz="1100" dirty="0">
                <a:solidFill>
                  <a:schemeClr val="accent4"/>
                </a:solidFill>
              </a:rPr>
              <a:t>게임이 끝나면 어떤 뉴스가 루머였고 누가 퍼뜨렸는지 결과 화면에서 공개됩니다.</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lIns="0" tIns="0" rIns="0" bIns="0" rtlCol="0"/>
          <a:lstStyle/>
          <a:p>
            <a:pPr indent="0" marL="0">
              <a:buNone/>
            </a:pPr>
            <a:r>
              <a:rPr lang="en-US" sz="1200" b="1" dirty="0">
                <a:solidFill>
                  <a:schemeClr val="accent1"/>
                </a:solidFill>
              </a:rPr>
              <a:t>핵심 기능 03</a:t>
            </a: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플레이어가 움직이는 시장</a:t>
            </a:r>
            <a:endParaRPr lang="en-US" sz="3200" dirty="0"/>
          </a:p>
        </p:txBody>
      </p:sp>
      <p:sp>
        <p:nvSpPr>
          <p:cNvPr id="4" name="step-0"/>
          <p:cNvSpPr/>
          <p:nvPr/>
        </p:nvSpPr>
        <p:spPr>
          <a:xfrm>
            <a:off x="457200" y="1371600"/>
            <a:ext cx="2468880" cy="1371600"/>
          </a:xfrm>
          <a:prstGeom prst="roundRect">
            <a:avLst>
              <a:gd name="adj" fmla="val 8000"/>
            </a:avLst>
          </a:prstGeom>
          <a:solidFill>
            <a:schemeClr val="bg2"/>
          </a:solidFill>
          <a:ln w="12700">
            <a:solidFill>
              <a:schemeClr val="bg2"/>
            </a:solidFill>
            <a:prstDash val="solid"/>
          </a:ln>
        </p:spPr>
      </p:sp>
      <p:sp>
        <p:nvSpPr>
          <p:cNvPr id="5" name="step-k-0"/>
          <p:cNvSpPr txBox="1"/>
          <p:nvPr/>
        </p:nvSpPr>
        <p:spPr>
          <a:xfrm>
            <a:off x="685800" y="1508760"/>
            <a:ext cx="2011680" cy="228600"/>
          </a:xfrm>
          <a:prstGeom prst="rect">
            <a:avLst/>
          </a:prstGeom>
          <a:noFill/>
          <a:ln/>
        </p:spPr>
        <p:txBody>
          <a:bodyPr wrap="square" lIns="0" tIns="0" rIns="0" bIns="0" rtlCol="0" anchor="ctr"/>
          <a:lstStyle/>
          <a:p>
            <a:pPr indent="0" marL="0">
              <a:buNone/>
            </a:pPr>
            <a:r>
              <a:rPr lang="en-US" sz="1000" b="1" dirty="0">
                <a:solidFill>
                  <a:schemeClr val="accent1"/>
                </a:solidFill>
              </a:rPr>
              <a:t>STEP 1</a:t>
            </a:r>
            <a:endParaRPr lang="en-US" sz="1000" dirty="0"/>
          </a:p>
        </p:txBody>
      </p:sp>
      <p:sp>
        <p:nvSpPr>
          <p:cNvPr id="6" name="step-h-0"/>
          <p:cNvSpPr txBox="1"/>
          <p:nvPr/>
        </p:nvSpPr>
        <p:spPr>
          <a:xfrm>
            <a:off x="685800" y="1737360"/>
            <a:ext cx="2103120" cy="329184"/>
          </a:xfrm>
          <a:prstGeom prst="rect">
            <a:avLst/>
          </a:prstGeom>
          <a:noFill/>
          <a:ln/>
        </p:spPr>
        <p:txBody>
          <a:bodyPr wrap="square" lIns="0" tIns="0" rIns="0" bIns="0" rtlCol="0" anchor="ctr"/>
          <a:lstStyle/>
          <a:p>
            <a:pPr indent="0" marL="0">
              <a:buNone/>
            </a:pPr>
            <a:r>
              <a:rPr lang="en-US" sz="1500" b="1" dirty="0">
                <a:solidFill>
                  <a:schemeClr val="tx1"/>
                </a:solidFill>
              </a:rPr>
              <a:t>참가자 주문</a:t>
            </a:r>
            <a:endParaRPr lang="en-US" sz="1500" dirty="0"/>
          </a:p>
        </p:txBody>
      </p:sp>
      <p:sp>
        <p:nvSpPr>
          <p:cNvPr id="7" name="step-d-0"/>
          <p:cNvSpPr txBox="1"/>
          <p:nvPr/>
        </p:nvSpPr>
        <p:spPr>
          <a:xfrm>
            <a:off x="685800" y="2103120"/>
            <a:ext cx="2057400" cy="548640"/>
          </a:xfrm>
          <a:prstGeom prst="rect">
            <a:avLst/>
          </a:prstGeom>
          <a:noFill/>
          <a:ln/>
        </p:spPr>
        <p:txBody>
          <a:bodyPr wrap="square" lIns="0" tIns="0" rIns="0" bIns="0" rtlCol="0" anchor="t"/>
          <a:lstStyle/>
          <a:p>
            <a:pPr indent="0" marL="0">
              <a:buNone/>
            </a:pPr>
            <a:r>
              <a:rPr lang="en-US" sz="1100" dirty="0">
                <a:solidFill>
                  <a:schemeClr val="accent4"/>
                </a:solidFill>
              </a:rPr>
              <a:t>8명의 매수·매도 주문이 모두 게임 서버로 모입니다</a:t>
            </a:r>
            <a:endParaRPr lang="en-US" sz="1100" dirty="0"/>
          </a:p>
        </p:txBody>
      </p:sp>
      <p:sp>
        <p:nvSpPr>
          <p:cNvPr id="8" name="arrow-0"/>
          <p:cNvSpPr/>
          <p:nvPr/>
        </p:nvSpPr>
        <p:spPr>
          <a:xfrm>
            <a:off x="3017520" y="1901952"/>
            <a:ext cx="274320" cy="320040"/>
          </a:xfrm>
          <a:prstGeom prst="rightArrow">
            <a:avLst/>
          </a:prstGeom>
          <a:solidFill>
            <a:schemeClr val="accent5"/>
          </a:solidFill>
          <a:ln w="12700">
            <a:solidFill>
              <a:schemeClr val="accent5"/>
            </a:solidFill>
            <a:prstDash val="solid"/>
          </a:ln>
        </p:spPr>
      </p:sp>
      <p:sp>
        <p:nvSpPr>
          <p:cNvPr id="9" name="step-1"/>
          <p:cNvSpPr/>
          <p:nvPr/>
        </p:nvSpPr>
        <p:spPr>
          <a:xfrm>
            <a:off x="3337560" y="1371600"/>
            <a:ext cx="2468880" cy="1371600"/>
          </a:xfrm>
          <a:prstGeom prst="roundRect">
            <a:avLst>
              <a:gd name="adj" fmla="val 8000"/>
            </a:avLst>
          </a:prstGeom>
          <a:solidFill>
            <a:schemeClr val="bg2"/>
          </a:solidFill>
          <a:ln w="12700">
            <a:solidFill>
              <a:schemeClr val="bg2"/>
            </a:solidFill>
            <a:prstDash val="solid"/>
          </a:ln>
        </p:spPr>
      </p:sp>
      <p:sp>
        <p:nvSpPr>
          <p:cNvPr id="10" name="step-k-1"/>
          <p:cNvSpPr txBox="1"/>
          <p:nvPr/>
        </p:nvSpPr>
        <p:spPr>
          <a:xfrm>
            <a:off x="3566160" y="1508760"/>
            <a:ext cx="2011680" cy="228600"/>
          </a:xfrm>
          <a:prstGeom prst="rect">
            <a:avLst/>
          </a:prstGeom>
          <a:noFill/>
          <a:ln/>
        </p:spPr>
        <p:txBody>
          <a:bodyPr wrap="square" lIns="0" tIns="0" rIns="0" bIns="0" rtlCol="0" anchor="ctr"/>
          <a:lstStyle/>
          <a:p>
            <a:pPr indent="0" marL="0">
              <a:buNone/>
            </a:pPr>
            <a:r>
              <a:rPr lang="en-US" sz="1000" b="1" dirty="0">
                <a:solidFill>
                  <a:schemeClr val="accent1"/>
                </a:solidFill>
              </a:rPr>
              <a:t>STEP 2</a:t>
            </a:r>
            <a:endParaRPr lang="en-US" sz="1000" dirty="0"/>
          </a:p>
        </p:txBody>
      </p:sp>
      <p:sp>
        <p:nvSpPr>
          <p:cNvPr id="11" name="step-h-1"/>
          <p:cNvSpPr txBox="1"/>
          <p:nvPr/>
        </p:nvSpPr>
        <p:spPr>
          <a:xfrm>
            <a:off x="3566160" y="1737360"/>
            <a:ext cx="2103120" cy="329184"/>
          </a:xfrm>
          <a:prstGeom prst="rect">
            <a:avLst/>
          </a:prstGeom>
          <a:noFill/>
          <a:ln/>
        </p:spPr>
        <p:txBody>
          <a:bodyPr wrap="square" lIns="0" tIns="0" rIns="0" bIns="0" rtlCol="0" anchor="ctr"/>
          <a:lstStyle/>
          <a:p>
            <a:pPr indent="0" marL="0">
              <a:buNone/>
            </a:pPr>
            <a:r>
              <a:rPr lang="en-US" sz="1500" b="1" dirty="0">
                <a:solidFill>
                  <a:schemeClr val="tx1"/>
                </a:solidFill>
              </a:rPr>
              <a:t>순매수량 집계</a:t>
            </a:r>
            <a:endParaRPr lang="en-US" sz="1500" dirty="0"/>
          </a:p>
        </p:txBody>
      </p:sp>
      <p:sp>
        <p:nvSpPr>
          <p:cNvPr id="12" name="step-d-1"/>
          <p:cNvSpPr txBox="1"/>
          <p:nvPr/>
        </p:nvSpPr>
        <p:spPr>
          <a:xfrm>
            <a:off x="3566160" y="2103120"/>
            <a:ext cx="2057400" cy="548640"/>
          </a:xfrm>
          <a:prstGeom prst="rect">
            <a:avLst/>
          </a:prstGeom>
          <a:noFill/>
          <a:ln/>
        </p:spPr>
        <p:txBody>
          <a:bodyPr wrap="square" lIns="0" tIns="0" rIns="0" bIns="0" rtlCol="0" anchor="t"/>
          <a:lstStyle/>
          <a:p>
            <a:pPr indent="0" marL="0">
              <a:buNone/>
            </a:pPr>
            <a:r>
              <a:rPr lang="en-US" sz="1100" dirty="0">
                <a:solidFill>
                  <a:schemeClr val="accent4"/>
                </a:solidFill>
              </a:rPr>
              <a:t>서버가 최근 10초 동안 매수량에서 매도량을 뺀 값을 계산합니다</a:t>
            </a:r>
            <a:endParaRPr lang="en-US" sz="1100" dirty="0"/>
          </a:p>
        </p:txBody>
      </p:sp>
      <p:sp>
        <p:nvSpPr>
          <p:cNvPr id="13" name="arrow-1"/>
          <p:cNvSpPr/>
          <p:nvPr/>
        </p:nvSpPr>
        <p:spPr>
          <a:xfrm>
            <a:off x="5897880" y="1901952"/>
            <a:ext cx="274320" cy="320040"/>
          </a:xfrm>
          <a:prstGeom prst="rightArrow">
            <a:avLst/>
          </a:prstGeom>
          <a:solidFill>
            <a:schemeClr val="accent5"/>
          </a:solidFill>
          <a:ln w="12700">
            <a:solidFill>
              <a:schemeClr val="accent5"/>
            </a:solidFill>
            <a:prstDash val="solid"/>
          </a:ln>
        </p:spPr>
      </p:sp>
      <p:sp>
        <p:nvSpPr>
          <p:cNvPr id="14" name="step-2"/>
          <p:cNvSpPr/>
          <p:nvPr/>
        </p:nvSpPr>
        <p:spPr>
          <a:xfrm>
            <a:off x="6217920" y="1371600"/>
            <a:ext cx="2468880" cy="1371600"/>
          </a:xfrm>
          <a:prstGeom prst="roundRect">
            <a:avLst>
              <a:gd name="adj" fmla="val 8000"/>
            </a:avLst>
          </a:prstGeom>
          <a:solidFill>
            <a:schemeClr val="tx2"/>
          </a:solidFill>
          <a:ln w="12700">
            <a:solidFill>
              <a:schemeClr val="tx2"/>
            </a:solidFill>
            <a:prstDash val="solid"/>
          </a:ln>
        </p:spPr>
      </p:sp>
      <p:sp>
        <p:nvSpPr>
          <p:cNvPr id="15" name="step-k-2"/>
          <p:cNvSpPr txBox="1"/>
          <p:nvPr/>
        </p:nvSpPr>
        <p:spPr>
          <a:xfrm>
            <a:off x="6446520" y="1508760"/>
            <a:ext cx="2011680" cy="228600"/>
          </a:xfrm>
          <a:prstGeom prst="rect">
            <a:avLst/>
          </a:prstGeom>
          <a:noFill/>
          <a:ln/>
        </p:spPr>
        <p:txBody>
          <a:bodyPr wrap="square" lIns="0" tIns="0" rIns="0" bIns="0" rtlCol="0" anchor="ctr"/>
          <a:lstStyle/>
          <a:p>
            <a:pPr indent="0" marL="0">
              <a:buNone/>
            </a:pPr>
            <a:r>
              <a:rPr lang="en-US" sz="1000" b="1" dirty="0">
                <a:solidFill>
                  <a:schemeClr val="accent3"/>
                </a:solidFill>
              </a:rPr>
              <a:t>STEP 3</a:t>
            </a:r>
            <a:endParaRPr lang="en-US" sz="1000" dirty="0"/>
          </a:p>
        </p:txBody>
      </p:sp>
      <p:sp>
        <p:nvSpPr>
          <p:cNvPr id="16" name="step-h-2"/>
          <p:cNvSpPr txBox="1"/>
          <p:nvPr/>
        </p:nvSpPr>
        <p:spPr>
          <a:xfrm>
            <a:off x="6446520" y="1737360"/>
            <a:ext cx="2103120" cy="329184"/>
          </a:xfrm>
          <a:prstGeom prst="rect">
            <a:avLst/>
          </a:prstGeom>
          <a:noFill/>
          <a:ln/>
        </p:spPr>
        <p:txBody>
          <a:bodyPr wrap="square" lIns="0" tIns="0" rIns="0" bIns="0" rtlCol="0" anchor="ctr"/>
          <a:lstStyle/>
          <a:p>
            <a:pPr indent="0" marL="0">
              <a:buNone/>
            </a:pPr>
            <a:r>
              <a:rPr lang="en-US" sz="1500" b="1" dirty="0">
                <a:solidFill>
                  <a:schemeClr val="bg1"/>
                </a:solidFill>
              </a:rPr>
              <a:t>가격에 반영</a:t>
            </a:r>
            <a:endParaRPr lang="en-US" sz="1500" dirty="0"/>
          </a:p>
        </p:txBody>
      </p:sp>
      <p:sp>
        <p:nvSpPr>
          <p:cNvPr id="17" name="step-d-2"/>
          <p:cNvSpPr txBox="1"/>
          <p:nvPr/>
        </p:nvSpPr>
        <p:spPr>
          <a:xfrm>
            <a:off x="6446520" y="2103120"/>
            <a:ext cx="2057400" cy="548640"/>
          </a:xfrm>
          <a:prstGeom prst="rect">
            <a:avLst/>
          </a:prstGeom>
          <a:noFill/>
          <a:ln/>
        </p:spPr>
        <p:txBody>
          <a:bodyPr wrap="square" lIns="0" tIns="0" rIns="0" bIns="0" rtlCol="0" anchor="t"/>
          <a:lstStyle/>
          <a:p>
            <a:pPr indent="0" marL="0">
              <a:buNone/>
            </a:pPr>
            <a:r>
              <a:rPr lang="en-US" sz="1100" dirty="0">
                <a:solidFill>
                  <a:schemeClr val="accent5"/>
                </a:solidFill>
              </a:rPr>
              <a:t>시세 엔진 가격을 순매수만큼 보정해, 몰려 사면 오르고 몰려 팔면 떨어집니다</a:t>
            </a:r>
            <a:endParaRPr lang="en-US" sz="1100" dirty="0"/>
          </a:p>
        </p:txBody>
      </p:sp>
      <p:sp>
        <p:nvSpPr>
          <p:cNvPr id="18" name="play-h"/>
          <p:cNvSpPr txBox="1"/>
          <p:nvPr/>
        </p:nvSpPr>
        <p:spPr>
          <a:xfrm>
            <a:off x="457200" y="2971800"/>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그래서 가능해지는 플레이</a:t>
            </a:r>
            <a:endParaRPr lang="en-US" sz="1400" dirty="0"/>
          </a:p>
        </p:txBody>
      </p:sp>
      <p:sp>
        <p:nvSpPr>
          <p:cNvPr id="19" name="play-0"/>
          <p:cNvSpPr/>
          <p:nvPr/>
        </p:nvSpPr>
        <p:spPr>
          <a:xfrm>
            <a:off x="457200" y="3383280"/>
            <a:ext cx="2606040" cy="914400"/>
          </a:xfrm>
          <a:prstGeom prst="roundRect">
            <a:avLst>
              <a:gd name="adj" fmla="val 10000"/>
            </a:avLst>
          </a:prstGeom>
          <a:solidFill>
            <a:schemeClr val="bg1"/>
          </a:solidFill>
          <a:ln w="9525">
            <a:solidFill>
              <a:schemeClr val="accent5"/>
            </a:solidFill>
            <a:prstDash val="solid"/>
          </a:ln>
        </p:spPr>
      </p:sp>
      <p:sp>
        <p:nvSpPr>
          <p:cNvPr id="20" name="play-h-0"/>
          <p:cNvSpPr txBox="1"/>
          <p:nvPr/>
        </p:nvSpPr>
        <p:spPr>
          <a:xfrm>
            <a:off x="685800" y="3493008"/>
            <a:ext cx="2194560" cy="292608"/>
          </a:xfrm>
          <a:prstGeom prst="rect">
            <a:avLst/>
          </a:prstGeom>
          <a:noFill/>
          <a:ln/>
        </p:spPr>
        <p:txBody>
          <a:bodyPr wrap="square" lIns="0" tIns="0" rIns="0" bIns="0" rtlCol="0" anchor="ctr"/>
          <a:lstStyle/>
          <a:p>
            <a:pPr indent="0" marL="0">
              <a:buNone/>
            </a:pPr>
            <a:r>
              <a:rPr lang="en-US" sz="1500" b="1" dirty="0">
                <a:solidFill>
                  <a:schemeClr val="accent1"/>
                </a:solidFill>
              </a:rPr>
              <a:t>담합</a:t>
            </a:r>
            <a:endParaRPr lang="en-US" sz="1500" dirty="0"/>
          </a:p>
        </p:txBody>
      </p:sp>
      <p:sp>
        <p:nvSpPr>
          <p:cNvPr id="21" name="play-d-0"/>
          <p:cNvSpPr txBox="1"/>
          <p:nvPr/>
        </p:nvSpPr>
        <p:spPr>
          <a:xfrm>
            <a:off x="685800" y="3803904"/>
            <a:ext cx="2194560" cy="420624"/>
          </a:xfrm>
          <a:prstGeom prst="rect">
            <a:avLst/>
          </a:prstGeom>
          <a:noFill/>
          <a:ln/>
        </p:spPr>
        <p:txBody>
          <a:bodyPr wrap="square" lIns="0" tIns="0" rIns="0" bIns="0" rtlCol="0" anchor="t"/>
          <a:lstStyle/>
          <a:p>
            <a:pPr indent="0" marL="0">
              <a:buNone/>
            </a:pPr>
            <a:r>
              <a:rPr lang="en-US" sz="1100" dirty="0">
                <a:solidFill>
                  <a:schemeClr val="tx1"/>
                </a:solidFill>
              </a:rPr>
              <a:t>친구와 함께 같은 종목을 사서 가격을 끌어올리기</a:t>
            </a:r>
            <a:endParaRPr lang="en-US" sz="1100" dirty="0"/>
          </a:p>
        </p:txBody>
      </p:sp>
      <p:sp>
        <p:nvSpPr>
          <p:cNvPr id="22" name="play-1"/>
          <p:cNvSpPr/>
          <p:nvPr/>
        </p:nvSpPr>
        <p:spPr>
          <a:xfrm>
            <a:off x="3337560" y="3383280"/>
            <a:ext cx="2606040" cy="914400"/>
          </a:xfrm>
          <a:prstGeom prst="roundRect">
            <a:avLst>
              <a:gd name="adj" fmla="val 10000"/>
            </a:avLst>
          </a:prstGeom>
          <a:solidFill>
            <a:schemeClr val="bg1"/>
          </a:solidFill>
          <a:ln w="9525">
            <a:solidFill>
              <a:schemeClr val="accent5"/>
            </a:solidFill>
            <a:prstDash val="solid"/>
          </a:ln>
        </p:spPr>
      </p:sp>
      <p:sp>
        <p:nvSpPr>
          <p:cNvPr id="23" name="play-h-1"/>
          <p:cNvSpPr txBox="1"/>
          <p:nvPr/>
        </p:nvSpPr>
        <p:spPr>
          <a:xfrm>
            <a:off x="3566160" y="3493008"/>
            <a:ext cx="2194560" cy="292608"/>
          </a:xfrm>
          <a:prstGeom prst="rect">
            <a:avLst/>
          </a:prstGeom>
          <a:noFill/>
          <a:ln/>
        </p:spPr>
        <p:txBody>
          <a:bodyPr wrap="square" lIns="0" tIns="0" rIns="0" bIns="0" rtlCol="0" anchor="ctr"/>
          <a:lstStyle/>
          <a:p>
            <a:pPr indent="0" marL="0">
              <a:buNone/>
            </a:pPr>
            <a:r>
              <a:rPr lang="en-US" sz="1500" b="1" dirty="0">
                <a:solidFill>
                  <a:schemeClr val="accent1"/>
                </a:solidFill>
              </a:rPr>
              <a:t>작전</a:t>
            </a:r>
            <a:endParaRPr lang="en-US" sz="1500" dirty="0"/>
          </a:p>
        </p:txBody>
      </p:sp>
      <p:sp>
        <p:nvSpPr>
          <p:cNvPr id="24" name="play-d-1"/>
          <p:cNvSpPr txBox="1"/>
          <p:nvPr/>
        </p:nvSpPr>
        <p:spPr>
          <a:xfrm>
            <a:off x="3566160" y="3803904"/>
            <a:ext cx="2194560" cy="420624"/>
          </a:xfrm>
          <a:prstGeom prst="rect">
            <a:avLst/>
          </a:prstGeom>
          <a:noFill/>
          <a:ln/>
        </p:spPr>
        <p:txBody>
          <a:bodyPr wrap="square" lIns="0" tIns="0" rIns="0" bIns="0" rtlCol="0" anchor="t"/>
          <a:lstStyle/>
          <a:p>
            <a:pPr indent="0" marL="0">
              <a:buNone/>
            </a:pPr>
            <a:r>
              <a:rPr lang="en-US" sz="1100" dirty="0">
                <a:solidFill>
                  <a:schemeClr val="tx1"/>
                </a:solidFill>
              </a:rPr>
              <a:t>루머 카드를 뿌리고 매수까지 더해 시세 띄우기</a:t>
            </a:r>
            <a:endParaRPr lang="en-US" sz="1100" dirty="0"/>
          </a:p>
        </p:txBody>
      </p:sp>
      <p:sp>
        <p:nvSpPr>
          <p:cNvPr id="25" name="play-2"/>
          <p:cNvSpPr/>
          <p:nvPr/>
        </p:nvSpPr>
        <p:spPr>
          <a:xfrm>
            <a:off x="6217920" y="3383280"/>
            <a:ext cx="2606040" cy="914400"/>
          </a:xfrm>
          <a:prstGeom prst="roundRect">
            <a:avLst>
              <a:gd name="adj" fmla="val 10000"/>
            </a:avLst>
          </a:prstGeom>
          <a:solidFill>
            <a:schemeClr val="bg1"/>
          </a:solidFill>
          <a:ln w="9525">
            <a:solidFill>
              <a:schemeClr val="accent5"/>
            </a:solidFill>
            <a:prstDash val="solid"/>
          </a:ln>
        </p:spPr>
      </p:sp>
      <p:sp>
        <p:nvSpPr>
          <p:cNvPr id="26" name="play-h-2"/>
          <p:cNvSpPr txBox="1"/>
          <p:nvPr/>
        </p:nvSpPr>
        <p:spPr>
          <a:xfrm>
            <a:off x="6446520" y="3493008"/>
            <a:ext cx="2194560" cy="292608"/>
          </a:xfrm>
          <a:prstGeom prst="rect">
            <a:avLst/>
          </a:prstGeom>
          <a:noFill/>
          <a:ln/>
        </p:spPr>
        <p:txBody>
          <a:bodyPr wrap="square" lIns="0" tIns="0" rIns="0" bIns="0" rtlCol="0" anchor="ctr"/>
          <a:lstStyle/>
          <a:p>
            <a:pPr indent="0" marL="0">
              <a:buNone/>
            </a:pPr>
            <a:r>
              <a:rPr lang="en-US" sz="1500" b="1" dirty="0">
                <a:solidFill>
                  <a:schemeClr val="accent1"/>
                </a:solidFill>
              </a:rPr>
              <a:t>배신</a:t>
            </a:r>
            <a:endParaRPr lang="en-US" sz="1500" dirty="0"/>
          </a:p>
        </p:txBody>
      </p:sp>
      <p:sp>
        <p:nvSpPr>
          <p:cNvPr id="27" name="play-d-2"/>
          <p:cNvSpPr txBox="1"/>
          <p:nvPr/>
        </p:nvSpPr>
        <p:spPr>
          <a:xfrm>
            <a:off x="6446520" y="3803904"/>
            <a:ext cx="2194560" cy="420624"/>
          </a:xfrm>
          <a:prstGeom prst="rect">
            <a:avLst/>
          </a:prstGeom>
          <a:noFill/>
          <a:ln/>
        </p:spPr>
        <p:txBody>
          <a:bodyPr wrap="square" lIns="0" tIns="0" rIns="0" bIns="0" rtlCol="0" anchor="t"/>
          <a:lstStyle/>
          <a:p>
            <a:pPr indent="0" marL="0">
              <a:buNone/>
            </a:pPr>
            <a:r>
              <a:rPr lang="en-US" sz="1100" dirty="0">
                <a:solidFill>
                  <a:schemeClr val="tx1"/>
                </a:solidFill>
              </a:rPr>
              <a:t>같이 사자고 해 놓고 혼자 먼저 팔고 나가기</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5486400" cy="274320"/>
          </a:xfrm>
          <a:prstGeom prst="rect">
            <a:avLst/>
          </a:prstGeom>
          <a:noFill/>
          <a:ln/>
        </p:spPr>
        <p:txBody>
          <a:bodyPr wrap="square" lIns="0" tIns="0" rIns="0" bIns="0" rtlCol="0"/>
          <a:lstStyle/>
          <a:p>
            <a:pPr indent="0" marL="0">
              <a:buNone/>
            </a:pPr>
            <a:r>
              <a:rPr lang="en-US" sz="1200" b="1" dirty="0">
                <a:solidFill>
                  <a:schemeClr val="accent1"/>
                </a:solidFill>
              </a:rPr>
              <a:t>구현 계획</a:t>
            </a:r>
            <a:endParaRPr lang="en-US" sz="1200" dirty="0"/>
          </a:p>
        </p:txBody>
      </p:sp>
      <p:sp>
        <p:nvSpPr>
          <p:cNvPr id="3" name="Text 0"/>
          <p:cNvSpPr/>
          <p:nvPr>
            <p:ph idx="101"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시스템 구성과 활용 오픈소스</a:t>
            </a:r>
            <a:endParaRPr lang="en-US" sz="3200" dirty="0"/>
          </a:p>
        </p:txBody>
      </p:sp>
      <p:sp>
        <p:nvSpPr>
          <p:cNvPr id="4" name="dc-label"/>
          <p:cNvSpPr txBox="1"/>
          <p:nvPr/>
        </p:nvSpPr>
        <p:spPr>
          <a:xfrm>
            <a:off x="457200" y="1298448"/>
            <a:ext cx="4114800" cy="274320"/>
          </a:xfrm>
          <a:prstGeom prst="rect">
            <a:avLst/>
          </a:prstGeom>
          <a:noFill/>
          <a:ln/>
        </p:spPr>
        <p:txBody>
          <a:bodyPr wrap="square" lIns="0" tIns="0" rIns="0" bIns="0" rtlCol="0" anchor="ctr"/>
          <a:lstStyle/>
          <a:p>
            <a:pPr indent="0" marL="0">
              <a:buNone/>
            </a:pPr>
            <a:r>
              <a:rPr lang="en-US" sz="1200" b="1" dirty="0">
                <a:solidFill>
                  <a:schemeClr val="accent4"/>
                </a:solidFill>
              </a:rPr>
              <a:t>Docker Compose · 컨테이너 6종</a:t>
            </a:r>
            <a:endParaRPr lang="en-US" sz="1200" dirty="0"/>
          </a:p>
        </p:txBody>
      </p:sp>
      <p:sp>
        <p:nvSpPr>
          <p:cNvPr id="5" name="ln-nginx-game"/>
          <p:cNvSpPr/>
          <p:nvPr/>
        </p:nvSpPr>
        <p:spPr>
          <a:xfrm flipH="1">
            <a:off x="1691640" y="2103120"/>
            <a:ext cx="1051560" cy="457200"/>
          </a:xfrm>
          <a:prstGeom prst="line">
            <a:avLst/>
          </a:prstGeom>
          <a:noFill/>
          <a:ln w="15875">
            <a:solidFill>
              <a:srgbClr val="6B7684"/>
            </a:solidFill>
            <a:prstDash val="solid"/>
          </a:ln>
        </p:spPr>
      </p:sp>
      <p:sp>
        <p:nvSpPr>
          <p:cNvPr id="6" name="ln-nginx-api"/>
          <p:cNvSpPr/>
          <p:nvPr/>
        </p:nvSpPr>
        <p:spPr>
          <a:xfrm>
            <a:off x="2743200" y="2103120"/>
            <a:ext cx="1051560" cy="457200"/>
          </a:xfrm>
          <a:prstGeom prst="line">
            <a:avLst/>
          </a:prstGeom>
          <a:noFill/>
          <a:ln w="15875">
            <a:solidFill>
              <a:srgbClr val="6B7684"/>
            </a:solidFill>
            <a:prstDash val="solid"/>
          </a:ln>
        </p:spPr>
      </p:sp>
      <p:sp>
        <p:nvSpPr>
          <p:cNvPr id="7" name="ln-game-api"/>
          <p:cNvSpPr/>
          <p:nvPr/>
        </p:nvSpPr>
        <p:spPr>
          <a:xfrm>
            <a:off x="2468880" y="2788920"/>
            <a:ext cx="548640" cy="0"/>
          </a:xfrm>
          <a:prstGeom prst="line">
            <a:avLst/>
          </a:prstGeom>
          <a:noFill/>
          <a:ln w="15875">
            <a:solidFill>
              <a:srgbClr val="6B7684"/>
            </a:solidFill>
            <a:prstDash val="solid"/>
          </a:ln>
        </p:spPr>
      </p:sp>
      <p:sp>
        <p:nvSpPr>
          <p:cNvPr id="8" name="ln-mq-game"/>
          <p:cNvSpPr/>
          <p:nvPr/>
        </p:nvSpPr>
        <p:spPr>
          <a:xfrm>
            <a:off x="1691640" y="3017520"/>
            <a:ext cx="0" cy="457200"/>
          </a:xfrm>
          <a:prstGeom prst="line">
            <a:avLst/>
          </a:prstGeom>
          <a:noFill/>
          <a:ln w="15875">
            <a:solidFill>
              <a:srgbClr val="6B7684"/>
            </a:solidFill>
            <a:prstDash val="solid"/>
          </a:ln>
        </p:spPr>
      </p:sp>
      <p:sp>
        <p:nvSpPr>
          <p:cNvPr id="9" name="ln-api-db"/>
          <p:cNvSpPr/>
          <p:nvPr/>
        </p:nvSpPr>
        <p:spPr>
          <a:xfrm>
            <a:off x="3794760" y="3017520"/>
            <a:ext cx="0" cy="457200"/>
          </a:xfrm>
          <a:prstGeom prst="line">
            <a:avLst/>
          </a:prstGeom>
          <a:noFill/>
          <a:ln w="15875">
            <a:solidFill>
              <a:srgbClr val="6B7684"/>
            </a:solidFill>
            <a:prstDash val="solid"/>
          </a:ln>
        </p:spPr>
      </p:sp>
      <p:sp>
        <p:nvSpPr>
          <p:cNvPr id="10" name="ln-eng-mq"/>
          <p:cNvSpPr/>
          <p:nvPr/>
        </p:nvSpPr>
        <p:spPr>
          <a:xfrm>
            <a:off x="1691640" y="3931920"/>
            <a:ext cx="0" cy="274320"/>
          </a:xfrm>
          <a:prstGeom prst="line">
            <a:avLst/>
          </a:prstGeom>
          <a:noFill/>
          <a:ln w="15875">
            <a:solidFill>
              <a:srgbClr val="6B7684"/>
            </a:solidFill>
            <a:prstDash val="solid"/>
          </a:ln>
        </p:spPr>
      </p:sp>
      <p:sp>
        <p:nvSpPr>
          <p:cNvPr id="11" name="node-Nginx"/>
          <p:cNvSpPr/>
          <p:nvPr/>
        </p:nvSpPr>
        <p:spPr>
          <a:xfrm>
            <a:off x="1965960" y="1645920"/>
            <a:ext cx="1554480" cy="457200"/>
          </a:xfrm>
          <a:prstGeom prst="roundRect">
            <a:avLst>
              <a:gd name="adj" fmla="val 16000"/>
            </a:avLst>
          </a:prstGeom>
          <a:solidFill>
            <a:schemeClr val="tx2"/>
          </a:solidFill>
          <a:ln w="9525">
            <a:solidFill>
              <a:schemeClr val="tx2"/>
            </a:solidFill>
            <a:prstDash val="solid"/>
          </a:ln>
        </p:spPr>
      </p:sp>
      <p:sp>
        <p:nvSpPr>
          <p:cNvPr id="12" name="node-t-Nginx"/>
          <p:cNvSpPr txBox="1"/>
          <p:nvPr/>
        </p:nvSpPr>
        <p:spPr>
          <a:xfrm>
            <a:off x="1965960" y="164592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Nginx</a:t>
            </a:r>
            <a:endParaRPr lang="en-US" sz="1300" dirty="0"/>
          </a:p>
        </p:txBody>
      </p:sp>
      <p:sp>
        <p:nvSpPr>
          <p:cNvPr id="13" name="node-게임 서버"/>
          <p:cNvSpPr/>
          <p:nvPr/>
        </p:nvSpPr>
        <p:spPr>
          <a:xfrm>
            <a:off x="914400" y="2560320"/>
            <a:ext cx="1554480" cy="457200"/>
          </a:xfrm>
          <a:prstGeom prst="roundRect">
            <a:avLst>
              <a:gd name="adj" fmla="val 16000"/>
            </a:avLst>
          </a:prstGeom>
          <a:solidFill>
            <a:schemeClr val="tx2"/>
          </a:solidFill>
          <a:ln w="9525">
            <a:solidFill>
              <a:schemeClr val="tx2"/>
            </a:solidFill>
            <a:prstDash val="solid"/>
          </a:ln>
        </p:spPr>
      </p:sp>
      <p:sp>
        <p:nvSpPr>
          <p:cNvPr id="14" name="node-t-게임 서버"/>
          <p:cNvSpPr txBox="1"/>
          <p:nvPr/>
        </p:nvSpPr>
        <p:spPr>
          <a:xfrm>
            <a:off x="914400" y="256032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게임 서버</a:t>
            </a:r>
            <a:endParaRPr lang="en-US" sz="1300" dirty="0"/>
          </a:p>
        </p:txBody>
      </p:sp>
      <p:sp>
        <p:nvSpPr>
          <p:cNvPr id="15" name="node-API 서버"/>
          <p:cNvSpPr/>
          <p:nvPr/>
        </p:nvSpPr>
        <p:spPr>
          <a:xfrm>
            <a:off x="3017520" y="2560320"/>
            <a:ext cx="1554480" cy="457200"/>
          </a:xfrm>
          <a:prstGeom prst="roundRect">
            <a:avLst>
              <a:gd name="adj" fmla="val 16000"/>
            </a:avLst>
          </a:prstGeom>
          <a:solidFill>
            <a:schemeClr val="tx2"/>
          </a:solidFill>
          <a:ln w="9525">
            <a:solidFill>
              <a:schemeClr val="tx2"/>
            </a:solidFill>
            <a:prstDash val="solid"/>
          </a:ln>
        </p:spPr>
      </p:sp>
      <p:sp>
        <p:nvSpPr>
          <p:cNvPr id="16" name="node-t-API 서버"/>
          <p:cNvSpPr txBox="1"/>
          <p:nvPr/>
        </p:nvSpPr>
        <p:spPr>
          <a:xfrm>
            <a:off x="3017520" y="256032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API 서버</a:t>
            </a:r>
            <a:endParaRPr lang="en-US" sz="1300" dirty="0"/>
          </a:p>
        </p:txBody>
      </p:sp>
      <p:sp>
        <p:nvSpPr>
          <p:cNvPr id="17" name="node-RabbitMQ"/>
          <p:cNvSpPr/>
          <p:nvPr/>
        </p:nvSpPr>
        <p:spPr>
          <a:xfrm>
            <a:off x="914400" y="3474720"/>
            <a:ext cx="1554480" cy="457200"/>
          </a:xfrm>
          <a:prstGeom prst="roundRect">
            <a:avLst>
              <a:gd name="adj" fmla="val 16000"/>
            </a:avLst>
          </a:prstGeom>
          <a:solidFill>
            <a:schemeClr val="bg2"/>
          </a:solidFill>
          <a:ln w="9525">
            <a:solidFill>
              <a:schemeClr val="accent5"/>
            </a:solidFill>
            <a:prstDash val="solid"/>
          </a:ln>
        </p:spPr>
      </p:sp>
      <p:sp>
        <p:nvSpPr>
          <p:cNvPr id="18" name="node-t-RabbitMQ"/>
          <p:cNvSpPr txBox="1"/>
          <p:nvPr/>
        </p:nvSpPr>
        <p:spPr>
          <a:xfrm>
            <a:off x="914400" y="3474720"/>
            <a:ext cx="1554480" cy="457200"/>
          </a:xfrm>
          <a:prstGeom prst="rect">
            <a:avLst/>
          </a:prstGeom>
          <a:noFill/>
          <a:ln/>
        </p:spPr>
        <p:txBody>
          <a:bodyPr wrap="square" lIns="0" tIns="0" rIns="0" bIns="0" rtlCol="0" anchor="ctr"/>
          <a:lstStyle/>
          <a:p>
            <a:pPr algn="ctr" indent="0" marL="0">
              <a:buNone/>
            </a:pPr>
            <a:r>
              <a:rPr lang="en-US" sz="1300" b="1" dirty="0">
                <a:solidFill>
                  <a:schemeClr val="tx1"/>
                </a:solidFill>
              </a:rPr>
              <a:t>RabbitMQ</a:t>
            </a:r>
            <a:endParaRPr lang="en-US" sz="1300" dirty="0"/>
          </a:p>
        </p:txBody>
      </p:sp>
      <p:sp>
        <p:nvSpPr>
          <p:cNvPr id="19" name="node-DB (볼륨)"/>
          <p:cNvSpPr/>
          <p:nvPr/>
        </p:nvSpPr>
        <p:spPr>
          <a:xfrm>
            <a:off x="3017520" y="3474720"/>
            <a:ext cx="1554480" cy="457200"/>
          </a:xfrm>
          <a:prstGeom prst="roundRect">
            <a:avLst>
              <a:gd name="adj" fmla="val 16000"/>
            </a:avLst>
          </a:prstGeom>
          <a:solidFill>
            <a:schemeClr val="bg2"/>
          </a:solidFill>
          <a:ln w="9525">
            <a:solidFill>
              <a:schemeClr val="accent5"/>
            </a:solidFill>
            <a:prstDash val="solid"/>
          </a:ln>
        </p:spPr>
      </p:sp>
      <p:sp>
        <p:nvSpPr>
          <p:cNvPr id="20" name="node-t-DB (볼륨)"/>
          <p:cNvSpPr txBox="1"/>
          <p:nvPr/>
        </p:nvSpPr>
        <p:spPr>
          <a:xfrm>
            <a:off x="3017520" y="3474720"/>
            <a:ext cx="1554480" cy="457200"/>
          </a:xfrm>
          <a:prstGeom prst="rect">
            <a:avLst/>
          </a:prstGeom>
          <a:noFill/>
          <a:ln/>
        </p:spPr>
        <p:txBody>
          <a:bodyPr wrap="square" lIns="0" tIns="0" rIns="0" bIns="0" rtlCol="0" anchor="ctr"/>
          <a:lstStyle/>
          <a:p>
            <a:pPr algn="ctr" indent="0" marL="0">
              <a:buNone/>
            </a:pPr>
            <a:r>
              <a:rPr lang="en-US" sz="1300" b="1" dirty="0">
                <a:solidFill>
                  <a:schemeClr val="tx1"/>
                </a:solidFill>
              </a:rPr>
              <a:t>DB (볼륨)</a:t>
            </a:r>
            <a:endParaRPr lang="en-US" sz="1300" dirty="0"/>
          </a:p>
        </p:txBody>
      </p:sp>
      <p:sp>
        <p:nvSpPr>
          <p:cNvPr id="21" name="node-시세 엔진"/>
          <p:cNvSpPr/>
          <p:nvPr/>
        </p:nvSpPr>
        <p:spPr>
          <a:xfrm>
            <a:off x="914400" y="4206240"/>
            <a:ext cx="1554480" cy="457200"/>
          </a:xfrm>
          <a:prstGeom prst="roundRect">
            <a:avLst>
              <a:gd name="adj" fmla="val 16000"/>
            </a:avLst>
          </a:prstGeom>
          <a:solidFill>
            <a:schemeClr val="tx2"/>
          </a:solidFill>
          <a:ln w="9525">
            <a:solidFill>
              <a:schemeClr val="tx2"/>
            </a:solidFill>
            <a:prstDash val="solid"/>
          </a:ln>
        </p:spPr>
      </p:sp>
      <p:sp>
        <p:nvSpPr>
          <p:cNvPr id="22" name="node-t-시세 엔진"/>
          <p:cNvSpPr txBox="1"/>
          <p:nvPr/>
        </p:nvSpPr>
        <p:spPr>
          <a:xfrm>
            <a:off x="914400" y="420624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시세 엔진</a:t>
            </a:r>
            <a:endParaRPr lang="en-US" sz="1300" dirty="0"/>
          </a:p>
        </p:txBody>
      </p:sp>
      <p:sp>
        <p:nvSpPr>
          <p:cNvPr id="23" name="os-h"/>
          <p:cNvSpPr txBox="1"/>
          <p:nvPr/>
        </p:nvSpPr>
        <p:spPr>
          <a:xfrm>
            <a:off x="5303520" y="1298448"/>
            <a:ext cx="3383280" cy="320040"/>
          </a:xfrm>
          <a:prstGeom prst="rect">
            <a:avLst/>
          </a:prstGeom>
          <a:noFill/>
          <a:ln/>
        </p:spPr>
        <p:txBody>
          <a:bodyPr wrap="square" lIns="0" tIns="0" rIns="0" bIns="0" rtlCol="0" anchor="ctr"/>
          <a:lstStyle/>
          <a:p>
            <a:pPr indent="0" marL="0">
              <a:buNone/>
            </a:pPr>
            <a:r>
              <a:rPr lang="en-US" sz="1600" b="1" dirty="0">
                <a:solidFill>
                  <a:schemeClr val="tx1"/>
                </a:solidFill>
              </a:rPr>
              <a:t>외부 오픈소스</a:t>
            </a:r>
            <a:endParaRPr lang="en-US" sz="1600" dirty="0"/>
          </a:p>
        </p:txBody>
      </p:sp>
      <p:sp>
        <p:nvSpPr>
          <p:cNvPr id="24" name="os-n-0"/>
          <p:cNvSpPr txBox="1"/>
          <p:nvPr/>
        </p:nvSpPr>
        <p:spPr>
          <a:xfrm>
            <a:off x="5303520" y="1737360"/>
            <a:ext cx="3383280" cy="274320"/>
          </a:xfrm>
          <a:prstGeom prst="rect">
            <a:avLst/>
          </a:prstGeom>
          <a:noFill/>
          <a:ln/>
        </p:spPr>
        <p:txBody>
          <a:bodyPr wrap="square" lIns="0" tIns="0" rIns="0" bIns="0" rtlCol="0" anchor="ctr"/>
          <a:lstStyle/>
          <a:p>
            <a:pPr indent="0" marL="0">
              <a:buNone/>
            </a:pPr>
            <a:r>
              <a:rPr lang="en-US" sz="1400" b="1" dirty="0">
                <a:solidFill>
                  <a:schemeClr val="accent2"/>
                </a:solidFill>
              </a:rPr>
              <a:t>Socket.IO</a:t>
            </a:r>
            <a:endParaRPr lang="en-US" sz="1400" dirty="0"/>
          </a:p>
        </p:txBody>
      </p:sp>
      <p:sp>
        <p:nvSpPr>
          <p:cNvPr id="25" name="os-d-0"/>
          <p:cNvSpPr txBox="1"/>
          <p:nvPr/>
        </p:nvSpPr>
        <p:spPr>
          <a:xfrm>
            <a:off x="5303520" y="2002536"/>
            <a:ext cx="3383280" cy="256032"/>
          </a:xfrm>
          <a:prstGeom prst="rect">
            <a:avLst/>
          </a:prstGeom>
          <a:noFill/>
          <a:ln/>
        </p:spPr>
        <p:txBody>
          <a:bodyPr wrap="square" lIns="0" tIns="0" rIns="0" bIns="0" rtlCol="0" anchor="ctr"/>
          <a:lstStyle/>
          <a:p>
            <a:pPr indent="0" marL="0">
              <a:buNone/>
            </a:pPr>
            <a:r>
              <a:rPr lang="en-US" sz="1200" dirty="0">
                <a:solidFill>
                  <a:schemeClr val="accent4"/>
                </a:solidFill>
              </a:rPr>
              <a:t>실시간 시세·순위 전송</a:t>
            </a:r>
            <a:endParaRPr lang="en-US" sz="1200" dirty="0"/>
          </a:p>
        </p:txBody>
      </p:sp>
      <p:sp>
        <p:nvSpPr>
          <p:cNvPr id="26" name="os-n-1"/>
          <p:cNvSpPr txBox="1"/>
          <p:nvPr/>
        </p:nvSpPr>
        <p:spPr>
          <a:xfrm>
            <a:off x="5303520" y="2304288"/>
            <a:ext cx="3383280" cy="274320"/>
          </a:xfrm>
          <a:prstGeom prst="rect">
            <a:avLst/>
          </a:prstGeom>
          <a:noFill/>
          <a:ln/>
        </p:spPr>
        <p:txBody>
          <a:bodyPr wrap="square" lIns="0" tIns="0" rIns="0" bIns="0" rtlCol="0" anchor="ctr"/>
          <a:lstStyle/>
          <a:p>
            <a:pPr indent="0" marL="0">
              <a:buNone/>
            </a:pPr>
            <a:r>
              <a:rPr lang="en-US" sz="1400" b="1" dirty="0">
                <a:solidFill>
                  <a:schemeClr val="accent2"/>
                </a:solidFill>
              </a:rPr>
              <a:t>RabbitMQ</a:t>
            </a:r>
            <a:endParaRPr lang="en-US" sz="1400" dirty="0"/>
          </a:p>
        </p:txBody>
      </p:sp>
      <p:sp>
        <p:nvSpPr>
          <p:cNvPr id="27" name="os-d-1"/>
          <p:cNvSpPr txBox="1"/>
          <p:nvPr/>
        </p:nvSpPr>
        <p:spPr>
          <a:xfrm>
            <a:off x="5303520" y="2569464"/>
            <a:ext cx="3383280" cy="256032"/>
          </a:xfrm>
          <a:prstGeom prst="rect">
            <a:avLst/>
          </a:prstGeom>
          <a:noFill/>
          <a:ln/>
        </p:spPr>
        <p:txBody>
          <a:bodyPr wrap="square" lIns="0" tIns="0" rIns="0" bIns="0" rtlCol="0" anchor="ctr"/>
          <a:lstStyle/>
          <a:p>
            <a:pPr indent="0" marL="0">
              <a:buNone/>
            </a:pPr>
            <a:r>
              <a:rPr lang="en-US" sz="1200" dirty="0">
                <a:solidFill>
                  <a:schemeClr val="accent4"/>
                </a:solidFill>
              </a:rPr>
              <a:t>시세 엔진 → 게임 서버 메시지 큐</a:t>
            </a:r>
            <a:endParaRPr lang="en-US" sz="1200" dirty="0"/>
          </a:p>
        </p:txBody>
      </p:sp>
      <p:sp>
        <p:nvSpPr>
          <p:cNvPr id="28" name="os-n-2"/>
          <p:cNvSpPr txBox="1"/>
          <p:nvPr/>
        </p:nvSpPr>
        <p:spPr>
          <a:xfrm>
            <a:off x="5303520" y="2871216"/>
            <a:ext cx="3383280" cy="274320"/>
          </a:xfrm>
          <a:prstGeom prst="rect">
            <a:avLst/>
          </a:prstGeom>
          <a:noFill/>
          <a:ln/>
        </p:spPr>
        <p:txBody>
          <a:bodyPr wrap="square" lIns="0" tIns="0" rIns="0" bIns="0" rtlCol="0" anchor="ctr"/>
          <a:lstStyle/>
          <a:p>
            <a:pPr indent="0" marL="0">
              <a:buNone/>
            </a:pPr>
            <a:r>
              <a:rPr lang="en-US" sz="1400" b="1" dirty="0">
                <a:solidFill>
                  <a:schemeClr val="accent2"/>
                </a:solidFill>
              </a:rPr>
              <a:t>Lightweight Charts</a:t>
            </a:r>
            <a:endParaRPr lang="en-US" sz="1400" dirty="0"/>
          </a:p>
        </p:txBody>
      </p:sp>
      <p:sp>
        <p:nvSpPr>
          <p:cNvPr id="29" name="os-d-2"/>
          <p:cNvSpPr txBox="1"/>
          <p:nvPr/>
        </p:nvSpPr>
        <p:spPr>
          <a:xfrm>
            <a:off x="5303520" y="3136392"/>
            <a:ext cx="3383280" cy="256032"/>
          </a:xfrm>
          <a:prstGeom prst="rect">
            <a:avLst/>
          </a:prstGeom>
          <a:noFill/>
          <a:ln/>
        </p:spPr>
        <p:txBody>
          <a:bodyPr wrap="square" lIns="0" tIns="0" rIns="0" bIns="0" rtlCol="0" anchor="ctr"/>
          <a:lstStyle/>
          <a:p>
            <a:pPr indent="0" marL="0">
              <a:buNone/>
            </a:pPr>
            <a:r>
              <a:rPr lang="en-US" sz="1200" dirty="0">
                <a:solidFill>
                  <a:schemeClr val="accent4"/>
                </a:solidFill>
              </a:rPr>
              <a:t>증권 앱 스타일 캔들 차트</a:t>
            </a:r>
            <a:endParaRPr lang="en-US" sz="1200" dirty="0"/>
          </a:p>
        </p:txBody>
      </p:sp>
      <p:sp>
        <p:nvSpPr>
          <p:cNvPr id="30" name="os-n-3"/>
          <p:cNvSpPr txBox="1"/>
          <p:nvPr/>
        </p:nvSpPr>
        <p:spPr>
          <a:xfrm>
            <a:off x="5303520" y="3438144"/>
            <a:ext cx="3383280" cy="274320"/>
          </a:xfrm>
          <a:prstGeom prst="rect">
            <a:avLst/>
          </a:prstGeom>
          <a:noFill/>
          <a:ln/>
        </p:spPr>
        <p:txBody>
          <a:bodyPr wrap="square" lIns="0" tIns="0" rIns="0" bIns="0" rtlCol="0" anchor="ctr"/>
          <a:lstStyle/>
          <a:p>
            <a:pPr indent="0" marL="0">
              <a:buNone/>
            </a:pPr>
            <a:r>
              <a:rPr lang="en-US" sz="1400" b="1" dirty="0">
                <a:solidFill>
                  <a:schemeClr val="accent2"/>
                </a:solidFill>
              </a:rPr>
              <a:t>k6</a:t>
            </a:r>
            <a:endParaRPr lang="en-US" sz="1400" dirty="0"/>
          </a:p>
        </p:txBody>
      </p:sp>
      <p:sp>
        <p:nvSpPr>
          <p:cNvPr id="31" name="os-d-3"/>
          <p:cNvSpPr txBox="1"/>
          <p:nvPr/>
        </p:nvSpPr>
        <p:spPr>
          <a:xfrm>
            <a:off x="5303520" y="3703320"/>
            <a:ext cx="3383280" cy="256032"/>
          </a:xfrm>
          <a:prstGeom prst="rect">
            <a:avLst/>
          </a:prstGeom>
          <a:noFill/>
          <a:ln/>
        </p:spPr>
        <p:txBody>
          <a:bodyPr wrap="square" lIns="0" tIns="0" rIns="0" bIns="0" rtlCol="0" anchor="ctr"/>
          <a:lstStyle/>
          <a:p>
            <a:pPr indent="0" marL="0">
              <a:buNone/>
            </a:pPr>
            <a:r>
              <a:rPr lang="en-US" sz="1200" dirty="0">
                <a:solidFill>
                  <a:schemeClr val="accent4"/>
                </a:solidFill>
              </a:rPr>
              <a:t>동시 접속 부하 테스트</a:t>
            </a:r>
            <a:endParaRPr lang="en-US" sz="1200" dirty="0"/>
          </a:p>
        </p:txBody>
      </p:sp>
      <p:sp>
        <p:nvSpPr>
          <p:cNvPr id="32" name="devops-box"/>
          <p:cNvSpPr/>
          <p:nvPr/>
        </p:nvSpPr>
        <p:spPr>
          <a:xfrm>
            <a:off x="5303520" y="4023360"/>
            <a:ext cx="3383280" cy="548640"/>
          </a:xfrm>
          <a:prstGeom prst="roundRect">
            <a:avLst>
              <a:gd name="adj" fmla="val 13333"/>
            </a:avLst>
          </a:prstGeom>
          <a:solidFill>
            <a:schemeClr val="bg2"/>
          </a:solidFill>
          <a:ln w="12700">
            <a:solidFill>
              <a:schemeClr val="bg2"/>
            </a:solidFill>
            <a:prstDash val="solid"/>
          </a:ln>
        </p:spPr>
      </p:sp>
      <p:sp>
        <p:nvSpPr>
          <p:cNvPr id="33" name="devops-t"/>
          <p:cNvSpPr txBox="1"/>
          <p:nvPr/>
        </p:nvSpPr>
        <p:spPr>
          <a:xfrm>
            <a:off x="5440680" y="4023360"/>
            <a:ext cx="3154680" cy="548640"/>
          </a:xfrm>
          <a:prstGeom prst="rect">
            <a:avLst/>
          </a:prstGeom>
          <a:noFill/>
          <a:ln/>
        </p:spPr>
        <p:txBody>
          <a:bodyPr wrap="square" lIns="0" tIns="0" rIns="0" bIns="0" rtlCol="0" anchor="ctr"/>
          <a:lstStyle/>
          <a:p>
            <a:pPr indent="0" marL="0">
              <a:buNone/>
            </a:pPr>
            <a:r>
              <a:rPr lang="en-US" sz="1100" dirty="0">
                <a:solidFill>
                  <a:schemeClr val="tx1"/>
                </a:solidFill>
              </a:rPr>
              <a:t>Git Flow · PR 리뷰 필수</a:t>
            </a:r>
            <a:endParaRPr lang="en-US" sz="1100" dirty="0"/>
          </a:p>
          <a:p>
            <a:pPr indent="0" marL="0">
              <a:buNone/>
            </a:pPr>
            <a:r>
              <a:rPr lang="en-US" sz="1100" dirty="0">
                <a:solidFill>
                  <a:schemeClr val="tx1"/>
                </a:solidFill>
              </a:rPr>
              <a:t>GitHub Actions 워크플로 6개</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112264"/>
            <a:ext cx="8046720" cy="914400"/>
          </a:xfrm>
          <a:prstGeom prst="rect">
            <a:avLst/>
          </a:prstGeom>
          <a:noFill/>
          <a:ln/>
        </p:spPr>
        <p:txBody>
          <a:bodyPr wrap="square" lIns="0" tIns="0" rIns="0" bIns="0" rtlCol="0" anchor="ctr"/>
          <a:lstStyle/>
          <a:p>
            <a:pPr algn="ctr" indent="0" marL="0">
              <a:buNone/>
            </a:pPr>
            <a:r>
              <a:rPr lang="en-US" sz="4800" b="1" dirty="0">
                <a:solidFill>
                  <a:schemeClr val="bg1"/>
                </a:solidFill>
              </a:rPr>
              <a:t>감사합니다</a:t>
            </a:r>
            <a:endParaRPr lang="en-US" sz="4800" dirty="0"/>
          </a:p>
        </p:txBody>
      </p:sp>
    </p:spTree>
  </p:cSld>
  <p:clrMapOvr>
    <a:masterClrMapping/>
  </p:clrMapOvr>
</p:sld>
</file>

<file path=ppt/theme/theme1.xml><?xml version="1.0" encoding="utf-8"?>
<a:theme xmlns:a="http://schemas.openxmlformats.org/drawingml/2006/main" name="Mock Battle">
  <a:themeElements>
    <a:clrScheme name="Mock Battle">
      <a:dk1>
        <a:srgbClr val="1A2233"/>
      </a:dk1>
      <a:lt1>
        <a:srgbClr val="FFFFFF"/>
      </a:lt1>
      <a:dk2>
        <a:srgbClr val="0F1724"/>
      </a:dk2>
      <a:lt2>
        <a:srgbClr val="F2F4F8"/>
      </a:lt2>
      <a:accent1>
        <a:srgbClr val="F04452"/>
      </a:accent1>
      <a:accent2>
        <a:srgbClr val="3182F6"/>
      </a:accent2>
      <a:accent3>
        <a:srgbClr val="FFB800"/>
      </a:accent3>
      <a:accent4>
        <a:srgbClr val="6B7684"/>
      </a:accent4>
      <a:accent5>
        <a:srgbClr val="D9DEE5"/>
      </a:accent5>
      <a:accent6>
        <a:srgbClr val="FFF3CC"/>
      </a:accent6>
      <a:hlink>
        <a:srgbClr val="3182F6"/>
      </a:hlink>
      <a:folHlink>
        <a:srgbClr val="6B7684"/>
      </a:folHlink>
    </a:clrScheme>
    <a:fontScheme name="Mock Battl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모의투자 배틀 - 주제 발표</dc:title>
  <dc:subject>PptxGenJS Presentation</dc:subject>
  <dc:creator>mock-battle-kgu</dc:creator>
  <cp:lastModifiedBy>mock-battle-kgu</cp:lastModifiedBy>
  <cp:revision>1</cp:revision>
  <dcterms:created xsi:type="dcterms:W3CDTF">2026-10-29T13:17:02Z</dcterms:created>
  <dcterms:modified xsi:type="dcterms:W3CDTF">2026-10-29T13:17:02Z</dcterms:modified>
</cp:coreProperties>
</file>